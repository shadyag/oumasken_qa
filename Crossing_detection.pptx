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3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62" r:id="rId5"/>
    <p:sldId id="263" r:id="rId6"/>
    <p:sldId id="264" r:id="rId7"/>
    <p:sldId id="272" r:id="rId8"/>
    <p:sldId id="266" r:id="rId9"/>
    <p:sldId id="265" r:id="rId10"/>
    <p:sldId id="270" r:id="rId11"/>
    <p:sldId id="271" r:id="rId12"/>
    <p:sldId id="268" r:id="rId13"/>
    <p:sldId id="273" r:id="rId14"/>
    <p:sldId id="269" r:id="rId15"/>
  </p:sldIdLst>
  <p:sldSz cx="12192000" cy="6858000"/>
  <p:notesSz cx="6797675" cy="9928225"/>
  <p:defaultTextStyle>
    <a:defPPr>
      <a:defRPr lang="de-CH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3" userDrawn="1">
          <p15:clr>
            <a:srgbClr val="A4A3A4"/>
          </p15:clr>
        </p15:guide>
        <p15:guide id="2" orient="horz" pos="255" userDrawn="1">
          <p15:clr>
            <a:srgbClr val="A4A3A4"/>
          </p15:clr>
        </p15:guide>
        <p15:guide id="3" orient="horz" pos="572" userDrawn="1">
          <p15:clr>
            <a:srgbClr val="A4A3A4"/>
          </p15:clr>
        </p15:guide>
        <p15:guide id="4" orient="horz" pos="368" userDrawn="1">
          <p15:clr>
            <a:srgbClr val="A4A3A4"/>
          </p15:clr>
        </p15:guide>
        <p15:guide id="8" pos="74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0"/>
    <a:srgbClr val="D9EFFD"/>
    <a:srgbClr val="009900"/>
    <a:srgbClr val="FFFFFF"/>
    <a:srgbClr val="FFFFF8"/>
    <a:srgbClr val="939393"/>
    <a:srgbClr val="FFCB66"/>
    <a:srgbClr val="EBE7DE"/>
    <a:srgbClr val="23DD9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22" autoAdjust="0"/>
    <p:restoredTop sz="77066" autoAdjust="0"/>
  </p:normalViewPr>
  <p:slideViewPr>
    <p:cSldViewPr snapToGrid="0" showGuides="1">
      <p:cViewPr varScale="1">
        <p:scale>
          <a:sx n="122" d="100"/>
          <a:sy n="122" d="100"/>
        </p:scale>
        <p:origin x="1758" y="108"/>
      </p:cViewPr>
      <p:guideLst>
        <p:guide orient="horz" pos="913"/>
        <p:guide orient="horz" pos="255"/>
        <p:guide orient="horz" pos="572"/>
        <p:guide orient="horz" pos="368"/>
        <p:guide pos="74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4" d="100"/>
        <a:sy n="134" d="100"/>
      </p:scale>
      <p:origin x="0" y="-13716"/>
    </p:cViewPr>
  </p:sorterViewPr>
  <p:notesViewPr>
    <p:cSldViewPr snapToGrid="0" showGuides="1">
      <p:cViewPr varScale="1">
        <p:scale>
          <a:sx n="91" d="100"/>
          <a:sy n="91" d="100"/>
        </p:scale>
        <p:origin x="3710" y="72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6189" cy="49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2" tIns="45786" rIns="91572" bIns="45786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487" y="1"/>
            <a:ext cx="2946188" cy="49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2" tIns="45786" rIns="91572" bIns="45786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31813"/>
            <a:ext cx="2946189" cy="49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2" tIns="45786" rIns="91572" bIns="45786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487" y="9431813"/>
            <a:ext cx="2946188" cy="49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2" tIns="45786" rIns="91572" bIns="4578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F6F22B0-5AB4-4534-A196-09D5FD40838C}" type="slidenum"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pPr/>
              <a:t>‹N°›</a:t>
            </a:fld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374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20:05:00.34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4948 0,'3016'-4948'0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20:05:15.1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8520 5080 0,'-8520'-5080'0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20:06:11.552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1323 0,'6323'-1323'0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20:06:17.826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4313 0 0,'-4312'2144'0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20:06:26.447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2699 0 0,'-2699'4577'0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21:12:32.823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 0,'4903'-35'0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21:12:40.6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0,'4623'0'0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06:02:37.620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 0,'4493'-35'0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20:05:00.34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4948 0,'3016'-4948'0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20:05:15.1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8520 5080 0,'-8520'-5080'0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20:06:11.552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1323 0,'6323'-1323'0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20:06:17.826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4313 0 0,'-4312'2144'0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20:06:26.447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2699 0 0,'-2699'4577'0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6189" cy="49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2" tIns="45786" rIns="91572" bIns="4578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487" y="1"/>
            <a:ext cx="2946188" cy="49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2" tIns="45786" rIns="91572" bIns="4578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48010" y="4715909"/>
            <a:ext cx="5630780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2" tIns="45786" rIns="91572" bIns="457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31813"/>
            <a:ext cx="2946189" cy="49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2" tIns="45786" rIns="91572" bIns="4578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CH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87" y="9431813"/>
            <a:ext cx="2946188" cy="49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2" tIns="45786" rIns="91572" bIns="4578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F9673C1-B10B-4A71-96FC-7B6CB81AABD2}" type="slidenum">
              <a:rPr lang="de-CH" smtClean="0"/>
              <a:pPr/>
              <a:t>‹N°›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81911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673C1-B10B-4A71-96FC-7B6CB81AABD2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02789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the config looks like in practice. </a:t>
            </a:r>
          </a:p>
          <a:p>
            <a:r>
              <a:rPr lang="en-US" dirty="0"/>
              <a:t>The STUFE expression tells us which layer is above: </a:t>
            </a:r>
            <a:r>
              <a:rPr lang="en-US" dirty="0" err="1"/>
              <a:t>input.STUFE</a:t>
            </a:r>
            <a:r>
              <a:rPr lang="en-US" dirty="0"/>
              <a:t> must be less than </a:t>
            </a:r>
            <a:r>
              <a:rPr lang="en-US" dirty="0" err="1"/>
              <a:t>crossing.STUFE</a:t>
            </a:r>
            <a:r>
              <a:rPr lang="en-US" dirty="0"/>
              <a:t>, meaning the input is the road on the bottom, the one that should be doing the masking. </a:t>
            </a:r>
          </a:p>
          <a:p>
            <a:r>
              <a:rPr lang="en-US" dirty="0"/>
              <a:t>The mask dataset and association table are also read from the config, so the QA check at the end knows exactly where to look for existing masks.</a:t>
            </a: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673C1-B10B-4A71-96FC-7B6CB81AABD2}" type="slidenum">
              <a:rPr lang="de-CH" smtClean="0"/>
              <a:pPr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74039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solid masks? </a:t>
            </a:r>
          </a:p>
          <a:p>
            <a:pPr algn="l"/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symbols are often dashed lines. A dashed mask has gaps, making it impossible to reliably count intersection points or detect polygon splits. </a:t>
            </a:r>
          </a:p>
          <a:p>
            <a:pPr algn="l"/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temporarily removes all </a:t>
            </a:r>
            <a:r>
              <a:rPr lang="en-US" sz="14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CIMGeometricEffectDashes</a:t>
            </a: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layer's CIM definition before calling </a:t>
            </a:r>
            <a:r>
              <a:rPr lang="en-US" sz="14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FeatureOutlineMasks</a:t>
            </a: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restores the original symbology immediately after. </a:t>
            </a:r>
          </a:p>
          <a:p>
            <a:pPr algn="l"/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image shows the clean, solid rectangular masks we get as a result. </a:t>
            </a:r>
          </a:p>
          <a:p>
            <a:pPr algn="l"/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depends on having these clean polygons.</a:t>
            </a:r>
            <a:endParaRPr lang="en-US" sz="1400" dirty="0"/>
          </a:p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673C1-B10B-4A71-96FC-7B6CB81AABD2}" type="slidenum">
              <a:rPr lang="de-CH" smtClean="0"/>
              <a:pPr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0589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gets to the heart of the problem. </a:t>
            </a:r>
          </a:p>
          <a:p>
            <a:r>
              <a:rPr lang="en-US" dirty="0"/>
              <a:t>On the left is a true crossing: two mask rectangles overlap, and that overlap forms an intersection polygon with exactly 4 corner points where the boundaries cross. </a:t>
            </a:r>
          </a:p>
          <a:p>
            <a:r>
              <a:rPr lang="en-US" dirty="0"/>
              <a:t>On the right are the cases we need to filter out. </a:t>
            </a:r>
          </a:p>
          <a:p>
            <a:r>
              <a:rPr lang="en-US" dirty="0"/>
              <a:t>A T-junction - where one line ends at the side of another - produces only 1 or 2 intersection points, not 4. </a:t>
            </a:r>
          </a:p>
          <a:p>
            <a:r>
              <a:rPr lang="en-US" dirty="0"/>
              <a:t>An end-to-end connection, where both lines terminate at the same point, produces a shared endpoint that sits right inside the overlap. </a:t>
            </a:r>
          </a:p>
          <a:p>
            <a:r>
              <a:rPr lang="en-US" dirty="0"/>
              <a:t>And parallel adjacent lines overlap along their edges but produce no polygon split when you erase them. </a:t>
            </a:r>
          </a:p>
          <a:p>
            <a:r>
              <a:rPr lang="en-US" dirty="0"/>
              <a:t>The key insight is that a true crossing always splits the mask into two disconnected pieces, while these false cases don't.</a:t>
            </a: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9673C1-B10B-4A71-96FC-7B6CB81AABD2}" type="slidenum">
              <a:rPr lang="de-CH" smtClean="0"/>
              <a:pPr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61935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7" descr="Logo_CMYK_pos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78883" y="354973"/>
            <a:ext cx="1886400" cy="479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32"/>
          <p:cNvSpPr txBox="1">
            <a:spLocks noChangeArrowheads="1"/>
          </p:cNvSpPr>
          <p:nvPr userDrawn="1"/>
        </p:nvSpPr>
        <p:spPr bwMode="auto">
          <a:xfrm>
            <a:off x="6048000" y="349111"/>
            <a:ext cx="5256000" cy="384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CH" sz="800" b="0">
                <a:latin typeface="Arial" charset="0"/>
              </a:rPr>
              <a:t> </a:t>
            </a:r>
            <a:endParaRPr lang="de-CH" sz="800" b="0" dirty="0"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CH" sz="800" b="1">
                <a:latin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ts val="1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CH" sz="800" b="0" dirty="0">
              <a:latin typeface="Arial" charset="0"/>
            </a:endParaRPr>
          </a:p>
        </p:txBody>
      </p:sp>
      <p:sp>
        <p:nvSpPr>
          <p:cNvPr id="19" name="Titel 4">
            <a:extLst>
              <a:ext uri="{FF2B5EF4-FFF2-40B4-BE49-F238E27FC236}">
                <a16:creationId xmlns:a16="http://schemas.microsoft.com/office/drawing/2014/main" id="{FD802D9E-C3CD-4FF0-B934-457D5CEE67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46286" y="1311118"/>
            <a:ext cx="9569689" cy="1872000"/>
          </a:xfrm>
        </p:spPr>
        <p:txBody>
          <a:bodyPr/>
          <a:lstStyle>
            <a:lvl1pPr>
              <a:lnSpc>
                <a:spcPct val="100000"/>
              </a:lnSpc>
              <a:defRPr sz="4800"/>
            </a:lvl1pPr>
          </a:lstStyle>
          <a:p>
            <a:r>
              <a:rPr lang="de-CH" dirty="0"/>
              <a:t>Bundesamt für</a:t>
            </a:r>
            <a:br>
              <a:rPr lang="de-CH" dirty="0"/>
            </a:br>
            <a:r>
              <a:rPr lang="de-CH" dirty="0"/>
              <a:t>Landestopografie swisstopo</a:t>
            </a:r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5716DF83-25D6-4289-866B-498170BD1E8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79538" y="3429000"/>
            <a:ext cx="9569450" cy="1260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CH" sz="1800" dirty="0"/>
              <a:t>Anlass</a:t>
            </a:r>
          </a:p>
          <a:p>
            <a:r>
              <a:rPr lang="de-CH" sz="1800" dirty="0"/>
              <a:t>Vorname Name, Datum 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769F3A61-59A5-4129-B0AC-49C870B57F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82593"/>
            <a:ext cx="1226423" cy="230640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1548" userDrawn="1">
          <p15:clr>
            <a:srgbClr val="FBAE40"/>
          </p15:clr>
        </p15:guide>
        <p15:guide id="5" orient="horz" pos="3317" userDrawn="1">
          <p15:clr>
            <a:srgbClr val="FBAE40"/>
          </p15:clr>
        </p15:guide>
        <p15:guide id="6" pos="1088" userDrawn="1">
          <p15:clr>
            <a:srgbClr val="FBAE40"/>
          </p15:clr>
        </p15:guide>
        <p15:guide id="7" pos="71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E27CB-E28C-4D53-A656-F94B9446D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6144F63-A2E5-490A-8D49-4E84EF9B7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1FFDD-132D-4B5B-AD6B-BCC06A41D268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20180C-0EDC-47FE-A53F-7DD254BF7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Bundesamt für Landestopografie / Office fédéral de topographie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44410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>
          <a:xfrm>
            <a:off x="1392238" y="1449388"/>
            <a:ext cx="10321925" cy="4526612"/>
          </a:xfrm>
        </p:spPr>
        <p:txBody>
          <a:bodyPr/>
          <a:lstStyle/>
          <a:p>
            <a:pPr lvl="0"/>
            <a:r>
              <a:rPr lang="de-CH" noProof="0" dirty="0"/>
              <a:t>Formatvorlagen des Textmasters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21FFDD-132D-4B5B-AD6B-BCC06A41D268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Titelmasterformat durch Klicken bearbeiten</a:t>
            </a:r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1379538" y="6340499"/>
            <a:ext cx="4287600" cy="3024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ts val="1200"/>
              </a:lnSpc>
              <a:defRPr sz="9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CH"/>
              <a:t>Bundesamt für Landestopografie / Office fédéral de topographie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64893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Titelmasterformat durch Klicken bearbeiten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1401183" y="1449388"/>
            <a:ext cx="4896000" cy="4526612"/>
          </a:xfrm>
        </p:spPr>
        <p:txBody>
          <a:bodyPr/>
          <a:lstStyle/>
          <a:p>
            <a:pPr lvl="0"/>
            <a:r>
              <a:rPr lang="de-CH" noProof="0" dirty="0"/>
              <a:t>Formatvorlagen des Textmasters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0"/>
          </p:nvPr>
        </p:nvSpPr>
        <p:spPr>
          <a:xfrm>
            <a:off x="6817360" y="1449388"/>
            <a:ext cx="4896000" cy="4526612"/>
          </a:xfrm>
        </p:spPr>
        <p:txBody>
          <a:bodyPr/>
          <a:lstStyle/>
          <a:p>
            <a:pPr lvl="0"/>
            <a:r>
              <a:rPr lang="de-CH" noProof="0" dirty="0"/>
              <a:t>Formatvorlagen des Textmasters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21FFDD-132D-4B5B-AD6B-BCC06A41D268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9" name="Fußzeilenplatzhalter 3">
            <a:extLst>
              <a:ext uri="{FF2B5EF4-FFF2-40B4-BE49-F238E27FC236}">
                <a16:creationId xmlns:a16="http://schemas.microsoft.com/office/drawing/2014/main" id="{89E7DCF0-1535-4E3A-BBE4-70C23DA53EC7}"/>
              </a:ext>
            </a:extLst>
          </p:cNvPr>
          <p:cNvSpPr txBox="1">
            <a:spLocks/>
          </p:cNvSpPr>
          <p:nvPr userDrawn="1"/>
        </p:nvSpPr>
        <p:spPr>
          <a:xfrm>
            <a:off x="1379538" y="6340499"/>
            <a:ext cx="4287600" cy="30240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CH"/>
            </a:defPPr>
            <a:lvl1pPr algn="l" rtl="0" eaLnBrk="0" fontAlgn="base" hangingPunc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9pPr>
          </a:lstStyle>
          <a:p>
            <a:r>
              <a:rPr lang="de-CH"/>
              <a:t>Bundesamt für Landestopografie / Office fédéral de topographie</a:t>
            </a:r>
            <a:endParaRPr lang="de-CH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CH" noProof="0" dirty="0"/>
              <a:t>Titel Abschnitt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1FFDD-132D-4B5B-AD6B-BCC06A41D268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96FF6DC8-1895-4BCF-ACC3-5C4D45BAC4AC}"/>
              </a:ext>
            </a:extLst>
          </p:cNvPr>
          <p:cNvSpPr txBox="1">
            <a:spLocks/>
          </p:cNvSpPr>
          <p:nvPr userDrawn="1"/>
        </p:nvSpPr>
        <p:spPr>
          <a:xfrm>
            <a:off x="1379538" y="6340499"/>
            <a:ext cx="4287600" cy="30240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CH"/>
            </a:defPPr>
            <a:lvl1pPr algn="l" rtl="0" eaLnBrk="0" fontAlgn="base" hangingPunc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9pPr>
          </a:lstStyle>
          <a:p>
            <a:r>
              <a:rPr lang="de-CH"/>
              <a:t>Bundesamt für Landestopografie / Office fédéral de topographie</a:t>
            </a:r>
            <a:endParaRPr lang="de-CH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4E3095E-1420-40FB-A13B-B5DCF8ECC9B1}"/>
              </a:ext>
            </a:extLst>
          </p:cNvPr>
          <p:cNvSpPr/>
          <p:nvPr userDrawn="1"/>
        </p:nvSpPr>
        <p:spPr bwMode="auto">
          <a:xfrm>
            <a:off x="-1" y="2085975"/>
            <a:ext cx="7724775" cy="3251200"/>
          </a:xfrm>
          <a:prstGeom prst="rect">
            <a:avLst/>
          </a:prstGeom>
          <a:solidFill>
            <a:schemeClr val="accent2">
              <a:lumMod val="7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49FAEA1B-C84E-425F-BE6C-4AAA29747FE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379538" y="2081629"/>
            <a:ext cx="6345236" cy="3255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268288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2pPr>
            <a:lvl3pPr marL="806450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3pPr>
            <a:lvl4pPr marL="1076325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4pPr>
            <a:lvl5pPr marL="1344613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de-CH" sz="4000" b="1" kern="0" dirty="0">
                <a:solidFill>
                  <a:schemeClr val="bg1"/>
                </a:solidFill>
                <a:latin typeface="+mj-lt"/>
              </a:rPr>
              <a:t>[Titel]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1FFDD-132D-4B5B-AD6B-BCC06A41D268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4CD0965F-7C45-497D-BEAA-6EB3BCD6F6F3}"/>
              </a:ext>
            </a:extLst>
          </p:cNvPr>
          <p:cNvSpPr txBox="1">
            <a:spLocks/>
          </p:cNvSpPr>
          <p:nvPr userDrawn="1"/>
        </p:nvSpPr>
        <p:spPr>
          <a:xfrm>
            <a:off x="1379538" y="6340499"/>
            <a:ext cx="4287600" cy="30240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CH"/>
            </a:defPPr>
            <a:lvl1pPr algn="l" rtl="0" eaLnBrk="0" fontAlgn="base" hangingPunct="0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18" charset="0"/>
                <a:ea typeface="+mn-ea"/>
                <a:cs typeface="+mn-cs"/>
              </a:defRPr>
            </a:lvl9pPr>
          </a:lstStyle>
          <a:p>
            <a:r>
              <a:rPr lang="de-CH"/>
              <a:t>Bundesamt für Landestopografie / Office fédéral de topographie</a:t>
            </a:r>
            <a:endParaRPr lang="de-CH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11104835" y="6340499"/>
            <a:ext cx="593619" cy="181586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45720" rtlCol="0" anchor="t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7D21FFDD-132D-4B5B-AD6B-BCC06A41D268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1051" name="Rectangle 27"/>
          <p:cNvSpPr>
            <a:spLocks noGrp="1" noChangeArrowheads="1"/>
          </p:cNvSpPr>
          <p:nvPr>
            <p:ph type="title"/>
          </p:nvPr>
        </p:nvSpPr>
        <p:spPr bwMode="auto">
          <a:xfrm>
            <a:off x="1401183" y="308471"/>
            <a:ext cx="10312449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de-CH" noProof="0" dirty="0"/>
          </a:p>
        </p:txBody>
      </p:sp>
      <p:sp>
        <p:nvSpPr>
          <p:cNvPr id="1052" name="Rectangle 2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01236" y="1442721"/>
            <a:ext cx="10310764" cy="4533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 noProof="0"/>
              <a:t>Klicken Sie, um die Formate des Vorlagentextes zu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 </a:t>
            </a:r>
          </a:p>
        </p:txBody>
      </p:sp>
      <p:sp>
        <p:nvSpPr>
          <p:cNvPr id="1064" name="Line 40"/>
          <p:cNvSpPr>
            <a:spLocks noChangeShapeType="1"/>
          </p:cNvSpPr>
          <p:nvPr/>
        </p:nvSpPr>
        <p:spPr bwMode="auto">
          <a:xfrm flipH="1">
            <a:off x="1401183" y="6263172"/>
            <a:ext cx="1033023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CH" sz="240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1376907" y="6340403"/>
            <a:ext cx="5404060" cy="257151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ts val="1200"/>
              </a:lnSpc>
              <a:defRPr sz="9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CH" dirty="0"/>
              <a:t>Bundesamt für Landestopografie / Office </a:t>
            </a:r>
            <a:r>
              <a:rPr lang="de-CH" dirty="0" err="1"/>
              <a:t>fédéral</a:t>
            </a:r>
            <a:r>
              <a:rPr lang="de-CH" dirty="0"/>
              <a:t> de </a:t>
            </a:r>
            <a:r>
              <a:rPr lang="de-CH" dirty="0" err="1"/>
              <a:t>topographie</a:t>
            </a:r>
            <a:endParaRPr lang="de-CH" dirty="0"/>
          </a:p>
        </p:txBody>
      </p:sp>
      <p:sp>
        <p:nvSpPr>
          <p:cNvPr id="9" name="Text Box 32"/>
          <p:cNvSpPr txBox="1">
            <a:spLocks noChangeArrowheads="1"/>
          </p:cNvSpPr>
          <p:nvPr userDrawn="1"/>
        </p:nvSpPr>
        <p:spPr bwMode="auto">
          <a:xfrm>
            <a:off x="1401183" y="6339599"/>
            <a:ext cx="5404061" cy="30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CH" sz="900" b="1" dirty="0">
                <a:latin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CH" sz="900" b="0" dirty="0">
              <a:latin typeface="Arial" charset="0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5983" y="349111"/>
            <a:ext cx="277200" cy="30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52" r:id="rId4"/>
    <p:sldLayoutId id="2147483654" r:id="rId5"/>
    <p:sldLayoutId id="2147483655" r:id="rId6"/>
  </p:sldLayoutIdLst>
  <p:hf hdr="0" dt="0"/>
  <p:txStyles>
    <p:titleStyle>
      <a:lvl1pPr algn="l" rtl="0" eaLnBrk="1" fontAlgn="base" hangingPunct="1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268288" indent="-268288" algn="l" rtl="0" eaLnBrk="1" fontAlgn="base" hangingPunct="1">
        <a:lnSpc>
          <a:spcPts val="26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69875" algn="l" rtl="0" eaLnBrk="1" fontAlgn="base" hangingPunct="1">
        <a:lnSpc>
          <a:spcPts val="2600"/>
        </a:lnSpc>
        <a:spcBef>
          <a:spcPts val="0"/>
        </a:spcBef>
        <a:spcAft>
          <a:spcPts val="0"/>
        </a:spcAft>
        <a:buClr>
          <a:schemeClr val="accent6"/>
        </a:buClr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</a:defRPr>
      </a:lvl2pPr>
      <a:lvl3pPr marL="806450" indent="-268288" algn="l" rtl="0" eaLnBrk="1" fontAlgn="base" hangingPunct="1">
        <a:lnSpc>
          <a:spcPts val="2600"/>
        </a:lnSpc>
        <a:spcBef>
          <a:spcPts val="0"/>
        </a:spcBef>
        <a:spcAft>
          <a:spcPts val="0"/>
        </a:spcAft>
        <a:buClr>
          <a:schemeClr val="accent6"/>
        </a:buClr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</a:defRPr>
      </a:lvl3pPr>
      <a:lvl4pPr marL="1076325" indent="-269875" algn="l" rtl="0" eaLnBrk="1" fontAlgn="base" hangingPunct="1">
        <a:lnSpc>
          <a:spcPts val="2600"/>
        </a:lnSpc>
        <a:spcBef>
          <a:spcPts val="0"/>
        </a:spcBef>
        <a:spcAft>
          <a:spcPts val="0"/>
        </a:spcAft>
        <a:buClr>
          <a:schemeClr val="accent6"/>
        </a:buClr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</a:defRPr>
      </a:lvl4pPr>
      <a:lvl5pPr marL="1344613" indent="-268288" algn="l" rtl="0" eaLnBrk="1" fontAlgn="base" hangingPunct="1">
        <a:lnSpc>
          <a:spcPts val="2600"/>
        </a:lnSpc>
        <a:spcBef>
          <a:spcPts val="0"/>
        </a:spcBef>
        <a:spcAft>
          <a:spcPts val="0"/>
        </a:spcAft>
        <a:buClr>
          <a:schemeClr val="accent6"/>
        </a:buClr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DDDDDD"/>
        </a:buClr>
        <a:buChar char="•"/>
        <a:defRPr sz="21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DDDDDD"/>
        </a:buClr>
        <a:buChar char="•"/>
        <a:defRPr sz="21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DDDDDD"/>
        </a:buClr>
        <a:buChar char="•"/>
        <a:defRPr sz="21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DDDDDD"/>
        </a:buClr>
        <a:buChar char="•"/>
        <a:defRPr sz="21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01" userDrawn="1">
          <p15:clr>
            <a:srgbClr val="F26B43"/>
          </p15:clr>
        </p15:guide>
        <p15:guide id="3" orient="horz" pos="3942" userDrawn="1">
          <p15:clr>
            <a:srgbClr val="F26B43"/>
          </p15:clr>
        </p15:guide>
        <p15:guide id="5" pos="7379" userDrawn="1">
          <p15:clr>
            <a:srgbClr val="F26B43"/>
          </p15:clr>
        </p15:guide>
        <p15:guide id="7" orient="horz" pos="4156" userDrawn="1">
          <p15:clr>
            <a:srgbClr val="F26B43"/>
          </p15:clr>
        </p15:guide>
        <p15:guide id="8" orient="horz" pos="232" userDrawn="1">
          <p15:clr>
            <a:srgbClr val="F26B43"/>
          </p15:clr>
        </p15:guide>
        <p15:guide id="9" pos="869" userDrawn="1">
          <p15:clr>
            <a:srgbClr val="F26B43"/>
          </p15:clr>
        </p15:guide>
        <p15:guide id="10" orient="horz" pos="3770" userDrawn="1">
          <p15:clr>
            <a:srgbClr val="F26B43"/>
          </p15:clr>
        </p15:guide>
        <p15:guide id="11" orient="horz" pos="913" userDrawn="1">
          <p15:clr>
            <a:srgbClr val="F26B43"/>
          </p15:clr>
        </p15:guide>
        <p15:guide id="12" orient="horz" pos="33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8" Type="http://schemas.openxmlformats.org/officeDocument/2006/relationships/image" Target="../media/image12.png"/><Relationship Id="rId26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7" Type="http://schemas.openxmlformats.org/officeDocument/2006/relationships/customXml" Target="../ink/ink5.xml"/><Relationship Id="rId25" Type="http://schemas.openxmlformats.org/officeDocument/2006/relationships/customXml" Target="../ink/ink8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24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customXml" Target="../ink/ink4.xml"/><Relationship Id="rId23" Type="http://schemas.openxmlformats.org/officeDocument/2006/relationships/customXml" Target="../ink/ink7.xml"/><Relationship Id="rId19" Type="http://schemas.openxmlformats.org/officeDocument/2006/relationships/customXml" Target="../ink/ink6.xml"/><Relationship Id="rId4" Type="http://schemas.openxmlformats.org/officeDocument/2006/relationships/customXml" Target="../ink/ink1.xml"/><Relationship Id="rId14" Type="http://schemas.openxmlformats.org/officeDocument/2006/relationships/image" Target="../media/image10.png"/><Relationship Id="rId22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2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17" Type="http://schemas.openxmlformats.org/officeDocument/2006/relationships/customXml" Target="../ink/ink13.xml"/><Relationship Id="rId2" Type="http://schemas.openxmlformats.org/officeDocument/2006/relationships/image" Target="../media/image14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customXml" Target="../ink/ink10.xml"/><Relationship Id="rId15" Type="http://schemas.openxmlformats.org/officeDocument/2006/relationships/customXml" Target="../ink/ink12.xml"/><Relationship Id="rId4" Type="http://schemas.openxmlformats.org/officeDocument/2006/relationships/image" Target="../media/image50.png"/><Relationship Id="rId1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C60FA7-E81B-9C75-406D-72513E2ABC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noProof="0" dirty="0"/>
            </a:br>
            <a:r>
              <a:rPr lang="en-US" noProof="0" dirty="0"/>
              <a:t>Crossing Mask Detection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6AC375-FCD3-A582-7A80-72E30FA9AC4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79538" y="3429000"/>
            <a:ext cx="9569450" cy="164176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noProof="0" dirty="0"/>
              <a:t>Automated validation of masks for crossings.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noProof="0" dirty="0"/>
              <a:t>Shadya Gamal - 16.09.2026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4689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5759E77-321E-6705-ABF5-F6E501831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Problem Statement</a:t>
            </a:r>
          </a:p>
        </p:txBody>
      </p:sp>
      <p:sp>
        <p:nvSpPr>
          <p:cNvPr id="42" name="Espace réservé du contenu 41">
            <a:extLst>
              <a:ext uri="{FF2B5EF4-FFF2-40B4-BE49-F238E27FC236}">
                <a16:creationId xmlns:a16="http://schemas.microsoft.com/office/drawing/2014/main" id="{D6418A48-579C-B311-7812-20A4C438C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</a:rPr>
              <a:t>The Problem</a:t>
            </a:r>
          </a:p>
          <a:p>
            <a:pPr marL="0" indent="0" algn="just">
              <a:buNone/>
            </a:pPr>
            <a:r>
              <a:rPr lang="en-US" noProof="0" dirty="0"/>
              <a:t>Certain configurations of roads/railways pass under one another in a map. The crossing-under feature needs to be masked for optimal visibility.</a:t>
            </a:r>
          </a:p>
          <a:p>
            <a:pPr marL="0" indent="0" algn="just">
              <a:buNone/>
            </a:pPr>
            <a:r>
              <a:rPr lang="en-US" noProof="0" dirty="0"/>
              <a:t>Missing or misplaced masks degrade map quality and require manual correction.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</a:rPr>
              <a:t>Key Challenge</a:t>
            </a:r>
          </a:p>
          <a:p>
            <a:pPr marL="0" indent="0" algn="just">
              <a:buNone/>
            </a:pPr>
            <a:r>
              <a:rPr lang="en-US" noProof="0" dirty="0"/>
              <a:t>Detecting a "visual crossing" is harder than a geometric intersection - symbology greatly affect whether two map elements actually overlap on the printed map.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3" name="Espace réservé du contenu 42">
            <a:extLst>
              <a:ext uri="{FF2B5EF4-FFF2-40B4-BE49-F238E27FC236}">
                <a16:creationId xmlns:a16="http://schemas.microsoft.com/office/drawing/2014/main" id="{E859C73D-D7FD-1B3C-E806-A7176B21DD5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</a:rPr>
              <a:t>QA Goals</a:t>
            </a:r>
          </a:p>
          <a:p>
            <a:pPr algn="just">
              <a:lnSpc>
                <a:spcPct val="150000"/>
              </a:lnSpc>
            </a:pPr>
            <a:r>
              <a:rPr lang="en-US" noProof="0" dirty="0">
                <a:solidFill>
                  <a:schemeClr val="accent1"/>
                </a:solidFill>
              </a:rPr>
              <a:t>Detect</a:t>
            </a:r>
            <a:r>
              <a:rPr lang="en-US" b="1" noProof="0" dirty="0"/>
              <a:t> </a:t>
            </a:r>
            <a:r>
              <a:rPr lang="en-US" noProof="0" dirty="0"/>
              <a:t>every location where there is a valid crossing</a:t>
            </a:r>
          </a:p>
          <a:p>
            <a:pPr algn="just">
              <a:lnSpc>
                <a:spcPct val="150000"/>
              </a:lnSpc>
            </a:pPr>
            <a:r>
              <a:rPr lang="en-US" noProof="0" dirty="0">
                <a:solidFill>
                  <a:schemeClr val="accent1"/>
                </a:solidFill>
              </a:rPr>
              <a:t>Verify</a:t>
            </a:r>
            <a:r>
              <a:rPr lang="en-US" noProof="0" dirty="0"/>
              <a:t> that a mask exists at each valid crossing location</a:t>
            </a:r>
          </a:p>
          <a:p>
            <a:pPr algn="just">
              <a:lnSpc>
                <a:spcPct val="150000"/>
              </a:lnSpc>
            </a:pPr>
            <a:r>
              <a:rPr lang="en-US" noProof="0" dirty="0">
                <a:solidFill>
                  <a:schemeClr val="accent1"/>
                </a:solidFill>
              </a:rPr>
              <a:t>Flag</a:t>
            </a:r>
            <a:r>
              <a:rPr lang="en-US" noProof="0" dirty="0"/>
              <a:t> missing or misplaced masks for correction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5CF62D6-9DB4-163E-E42C-121DA33236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21FFDD-132D-4B5B-AD6B-BCC06A41D268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2643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BEBCCDD-48B7-26E2-32CF-6A67E6DC21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21FFDD-132D-4B5B-AD6B-BCC06A41D268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4D985BB-3C74-CD36-ACE0-2D97C4998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Pipeline Overview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8D992-2351-386A-3F47-9CA2F5340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 dirty="0" err="1"/>
              <a:t>Bundesamt</a:t>
            </a:r>
            <a:r>
              <a:rPr lang="en-US" noProof="0" dirty="0"/>
              <a:t> für </a:t>
            </a:r>
            <a:r>
              <a:rPr lang="en-US" noProof="0" dirty="0" err="1"/>
              <a:t>Landestopografie</a:t>
            </a:r>
            <a:r>
              <a:rPr lang="en-US" noProof="0" dirty="0"/>
              <a:t> / Office </a:t>
            </a:r>
            <a:r>
              <a:rPr lang="en-US" noProof="0" dirty="0" err="1"/>
              <a:t>fédéral</a:t>
            </a:r>
            <a:r>
              <a:rPr lang="en-US" noProof="0" dirty="0"/>
              <a:t> de </a:t>
            </a:r>
            <a:r>
              <a:rPr lang="en-US" noProof="0" dirty="0" err="1"/>
              <a:t>topographie</a:t>
            </a:r>
            <a:endParaRPr lang="en-US" noProof="0" dirty="0"/>
          </a:p>
        </p:txBody>
      </p:sp>
      <p:pic>
        <p:nvPicPr>
          <p:cNvPr id="183" name="Image 182">
            <a:extLst>
              <a:ext uri="{FF2B5EF4-FFF2-40B4-BE49-F238E27FC236}">
                <a16:creationId xmlns:a16="http://schemas.microsoft.com/office/drawing/2014/main" id="{872C5F0E-48B1-B807-3501-AD4B5C872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72" y="2586295"/>
            <a:ext cx="11545056" cy="168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220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AF982-0860-EF5D-9BC1-C0878CFF2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3DBD97-BE3C-CBDB-0717-72AD3E3B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1: Configuration &amp; Selection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5110F2E-1978-A3EB-6A83-962170462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21FFDD-132D-4B5B-AD6B-BCC06A41D268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83C0B0B-FEE3-0C3C-91CA-4A17ED412A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1" y="804512"/>
            <a:ext cx="5299218" cy="524897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9300DCD-E8E5-28D0-C9D1-923410E09335}"/>
              </a:ext>
            </a:extLst>
          </p:cNvPr>
          <p:cNvSpPr/>
          <p:nvPr/>
        </p:nvSpPr>
        <p:spPr bwMode="auto">
          <a:xfrm rot="18120368">
            <a:off x="4428359" y="3027285"/>
            <a:ext cx="159237" cy="145693"/>
          </a:xfrm>
          <a:prstGeom prst="rect">
            <a:avLst/>
          </a:prstGeom>
          <a:solidFill>
            <a:srgbClr val="FFFFFF">
              <a:alpha val="85098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7" name="Encre 56">
                <a:extLst>
                  <a:ext uri="{FF2B5EF4-FFF2-40B4-BE49-F238E27FC236}">
                    <a16:creationId xmlns:a16="http://schemas.microsoft.com/office/drawing/2014/main" id="{7D5069DD-0D1D-1672-B80E-B0C4FCA3EDCD}"/>
                  </a:ext>
                </a:extLst>
              </p14:cNvPr>
              <p14:cNvContentPartPr/>
              <p14:nvPr/>
            </p14:nvContentPartPr>
            <p14:xfrm>
              <a:off x="3449559" y="3099469"/>
              <a:ext cx="1086120" cy="1781640"/>
            </p14:xfrm>
          </p:contentPart>
        </mc:Choice>
        <mc:Fallback xmlns="">
          <p:pic>
            <p:nvPicPr>
              <p:cNvPr id="57" name="Encre 56">
                <a:extLst>
                  <a:ext uri="{FF2B5EF4-FFF2-40B4-BE49-F238E27FC236}">
                    <a16:creationId xmlns:a16="http://schemas.microsoft.com/office/drawing/2014/main" id="{7D5069DD-0D1D-1672-B80E-B0C4FCA3ED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95559" y="2991469"/>
                <a:ext cx="1193760" cy="19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9" name="Encre 58">
                <a:extLst>
                  <a:ext uri="{FF2B5EF4-FFF2-40B4-BE49-F238E27FC236}">
                    <a16:creationId xmlns:a16="http://schemas.microsoft.com/office/drawing/2014/main" id="{A6172077-1DB2-E21B-7088-5A07DC87CE72}"/>
                  </a:ext>
                </a:extLst>
              </p14:cNvPr>
              <p14:cNvContentPartPr/>
              <p14:nvPr/>
            </p14:nvContentPartPr>
            <p14:xfrm>
              <a:off x="2609130" y="1899785"/>
              <a:ext cx="3067560" cy="1829160"/>
            </p14:xfrm>
          </p:contentPart>
        </mc:Choice>
        <mc:Fallback xmlns="">
          <p:pic>
            <p:nvPicPr>
              <p:cNvPr id="59" name="Encre 58">
                <a:extLst>
                  <a:ext uri="{FF2B5EF4-FFF2-40B4-BE49-F238E27FC236}">
                    <a16:creationId xmlns:a16="http://schemas.microsoft.com/office/drawing/2014/main" id="{A6172077-1DB2-E21B-7088-5A07DC87CE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55130" y="1791785"/>
                <a:ext cx="3175200" cy="20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7" name="Encre 66">
                <a:extLst>
                  <a:ext uri="{FF2B5EF4-FFF2-40B4-BE49-F238E27FC236}">
                    <a16:creationId xmlns:a16="http://schemas.microsoft.com/office/drawing/2014/main" id="{6B18264A-EAE2-206A-9406-10FF6477FC8B}"/>
                  </a:ext>
                </a:extLst>
              </p14:cNvPr>
              <p14:cNvContentPartPr/>
              <p14:nvPr/>
            </p14:nvContentPartPr>
            <p14:xfrm>
              <a:off x="847650" y="4628940"/>
              <a:ext cx="2276640" cy="476640"/>
            </p14:xfrm>
          </p:contentPart>
        </mc:Choice>
        <mc:Fallback xmlns="">
          <p:pic>
            <p:nvPicPr>
              <p:cNvPr id="67" name="Encre 66">
                <a:extLst>
                  <a:ext uri="{FF2B5EF4-FFF2-40B4-BE49-F238E27FC236}">
                    <a16:creationId xmlns:a16="http://schemas.microsoft.com/office/drawing/2014/main" id="{498E0C4D-7381-1B47-4118-553EA144B8E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3650" y="4520940"/>
                <a:ext cx="2384280" cy="69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9" name="Encre 68">
                <a:extLst>
                  <a:ext uri="{FF2B5EF4-FFF2-40B4-BE49-F238E27FC236}">
                    <a16:creationId xmlns:a16="http://schemas.microsoft.com/office/drawing/2014/main" id="{200881D6-62E5-489E-0411-21C78141588E}"/>
                  </a:ext>
                </a:extLst>
              </p14:cNvPr>
              <p14:cNvContentPartPr/>
              <p14:nvPr/>
            </p14:nvContentPartPr>
            <p14:xfrm>
              <a:off x="4124010" y="2095260"/>
              <a:ext cx="1552680" cy="772200"/>
            </p14:xfrm>
          </p:contentPart>
        </mc:Choice>
        <mc:Fallback xmlns="">
          <p:pic>
            <p:nvPicPr>
              <p:cNvPr id="69" name="Encre 68">
                <a:extLst>
                  <a:ext uri="{FF2B5EF4-FFF2-40B4-BE49-F238E27FC236}">
                    <a16:creationId xmlns:a16="http://schemas.microsoft.com/office/drawing/2014/main" id="{DE684D26-2AF3-234F-3EDA-263AB331340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70370" y="1987260"/>
                <a:ext cx="1660320" cy="9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1" name="Encre 70">
                <a:extLst>
                  <a:ext uri="{FF2B5EF4-FFF2-40B4-BE49-F238E27FC236}">
                    <a16:creationId xmlns:a16="http://schemas.microsoft.com/office/drawing/2014/main" id="{A9A321C1-9FA3-76D6-D664-DF959084C9F7}"/>
                  </a:ext>
                </a:extLst>
              </p14:cNvPr>
              <p14:cNvContentPartPr/>
              <p14:nvPr/>
            </p14:nvContentPartPr>
            <p14:xfrm>
              <a:off x="3143010" y="2933700"/>
              <a:ext cx="972000" cy="1648080"/>
            </p14:xfrm>
          </p:contentPart>
        </mc:Choice>
        <mc:Fallback xmlns="">
          <p:pic>
            <p:nvPicPr>
              <p:cNvPr id="71" name="Encre 70">
                <a:extLst>
                  <a:ext uri="{FF2B5EF4-FFF2-40B4-BE49-F238E27FC236}">
                    <a16:creationId xmlns:a16="http://schemas.microsoft.com/office/drawing/2014/main" id="{8DAB634A-2DCC-FC16-8E45-BC110A5F956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089010" y="2825700"/>
                <a:ext cx="1079640" cy="1863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 9">
            <a:extLst>
              <a:ext uri="{FF2B5EF4-FFF2-40B4-BE49-F238E27FC236}">
                <a16:creationId xmlns:a16="http://schemas.microsoft.com/office/drawing/2014/main" id="{5E691FEE-5F68-3246-E1E4-68DFB3F1979C}"/>
              </a:ext>
            </a:extLst>
          </p:cNvPr>
          <p:cNvSpPr txBox="1"/>
          <p:nvPr/>
        </p:nvSpPr>
        <p:spPr>
          <a:xfrm>
            <a:off x="6320298" y="879973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latin typeface="+mj-lt"/>
              </a:rPr>
              <a:t>Process config parsed from XML:</a:t>
            </a:r>
            <a:endParaRPr lang="en-US" sz="1600" noProof="0" dirty="0">
              <a:latin typeface="+mj-lt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30FFB641-5E06-58AC-2C69-DE8687A2F2D6}"/>
              </a:ext>
            </a:extLst>
          </p:cNvPr>
          <p:cNvSpPr txBox="1"/>
          <p:nvPr/>
        </p:nvSpPr>
        <p:spPr>
          <a:xfrm>
            <a:off x="6320298" y="1208471"/>
            <a:ext cx="5024052" cy="393777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"STRASSE </a:t>
            </a:r>
            <a:r>
              <a:rPr lang="en-US" sz="1600" noProof="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einlinig</a:t>
            </a: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noProof="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unter</a:t>
            </a: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STRASSE,</a:t>
            </a:r>
            <a:endParaRPr lang="en-US" sz="1600" noProof="0" dirty="0"/>
          </a:p>
          <a:p>
            <a:pPr marL="0" indent="0">
              <a:buNone/>
            </a:pP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EISENBAHN </a:t>
            </a:r>
            <a:r>
              <a:rPr lang="en-US" sz="1600" noProof="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einlinig</a:t>
            </a: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(Dec)"</a:t>
            </a:r>
            <a:endParaRPr lang="en-US" sz="1600" noProof="0" dirty="0"/>
          </a:p>
          <a:p>
            <a:pPr marL="0" indent="0">
              <a:buNone/>
            </a:pPr>
            <a:endParaRPr lang="en-US" sz="1600" noProof="0" dirty="0"/>
          </a:p>
          <a:p>
            <a:pPr marL="0" indent="0">
              <a:buNone/>
            </a:pPr>
            <a:r>
              <a:rPr lang="en-US" sz="1600" noProof="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InputDataset</a:t>
            </a: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noProof="0" dirty="0"/>
          </a:p>
          <a:p>
            <a:pPr marL="0" indent="0">
              <a:buNone/>
            </a:pP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DKM25_STRASSE; SYMBOL IN (6,7,8,9,29)</a:t>
            </a:r>
            <a:endParaRPr lang="en-US" sz="1600" noProof="0" dirty="0"/>
          </a:p>
          <a:p>
            <a:pPr marL="0" indent="0">
              <a:buNone/>
            </a:pPr>
            <a:endParaRPr lang="en-US" sz="1600" noProof="0" dirty="0"/>
          </a:p>
          <a:p>
            <a:pPr marL="0" indent="0">
              <a:buNone/>
            </a:pPr>
            <a:r>
              <a:rPr lang="en-US" sz="1600" noProof="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CrossingDatasets</a:t>
            </a: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noProof="0" dirty="0"/>
          </a:p>
          <a:p>
            <a:pPr marL="0" indent="0">
              <a:buNone/>
            </a:pP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DKM25_STRASSE; SYMBOL IN (1,2,...,48)</a:t>
            </a:r>
            <a:endParaRPr lang="en-US" sz="1600" noProof="0" dirty="0"/>
          </a:p>
          <a:p>
            <a:pPr marL="0" indent="0">
              <a:buNone/>
            </a:pP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DKM25_EISENBAHN; SYMBOL IN (1,4,8)</a:t>
            </a:r>
            <a:endParaRPr lang="en-US" sz="1600" noProof="0" dirty="0"/>
          </a:p>
          <a:p>
            <a:pPr marL="0" indent="0">
              <a:buNone/>
            </a:pPr>
            <a:endParaRPr lang="en-US" sz="1600" noProof="0" dirty="0"/>
          </a:p>
          <a:p>
            <a:pPr marL="0" indent="0">
              <a:buNone/>
            </a:pPr>
            <a:r>
              <a:rPr lang="en-US" sz="1600" noProof="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AboveExpression</a:t>
            </a: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noProof="0" dirty="0"/>
          </a:p>
          <a:p>
            <a:pPr marL="0" indent="0">
              <a:buNone/>
            </a:pP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noProof="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input.STUFE</a:t>
            </a: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1600" noProof="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crossing.STUFE</a:t>
            </a:r>
            <a:endParaRPr lang="en-US" sz="1600" noProof="0" dirty="0"/>
          </a:p>
          <a:p>
            <a:pPr marL="0" indent="0">
              <a:buNone/>
            </a:pPr>
            <a:endParaRPr lang="en-US" sz="1600" noProof="0" dirty="0"/>
          </a:p>
          <a:p>
            <a:pPr marL="0" indent="0">
              <a:buNone/>
            </a:pPr>
            <a:r>
              <a:rPr lang="en-US" sz="1600" noProof="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MaskDataset</a:t>
            </a: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DKM25_STRASSE_OUMASK</a:t>
            </a:r>
            <a:endParaRPr lang="en-US" sz="1600" noProof="0" dirty="0"/>
          </a:p>
          <a:p>
            <a:pPr marL="0" indent="0">
              <a:buNone/>
            </a:pPr>
            <a:r>
              <a:rPr lang="en-US" sz="1600" noProof="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MaskAssociation</a:t>
            </a:r>
            <a:r>
              <a:rPr lang="en-US" sz="1600" noProof="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DKM25_STRASSE_OUREL</a:t>
            </a:r>
            <a:endParaRPr lang="en-US" sz="1600" noProof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85C567DE-F4DF-F6B7-DE47-55545372415D}"/>
                  </a:ext>
                </a:extLst>
              </p14:cNvPr>
              <p14:cNvContentPartPr/>
              <p14:nvPr/>
            </p14:nvContentPartPr>
            <p14:xfrm>
              <a:off x="6616680" y="3276440"/>
              <a:ext cx="1765440" cy="12960"/>
            </p14:xfrm>
          </p:contentPart>
        </mc:Choice>
        <mc:Fallback xmlns=""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85C567DE-F4DF-F6B7-DE47-55545372415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562680" y="3168440"/>
                <a:ext cx="187308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B2110FE1-22F8-F29E-0205-7F169EAAAD40}"/>
                  </a:ext>
                </a:extLst>
              </p14:cNvPr>
              <p14:cNvContentPartPr/>
              <p14:nvPr/>
            </p14:nvContentPartPr>
            <p14:xfrm>
              <a:off x="6603720" y="3009680"/>
              <a:ext cx="1664640" cy="720"/>
            </p14:xfrm>
          </p:contentPart>
        </mc:Choice>
        <mc:Fallback xmlns=""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B2110FE1-22F8-F29E-0205-7F169EAAAD4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549720" y="2793680"/>
                <a:ext cx="17722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6DA62FB3-818B-CEA3-7E24-D367791B54F3}"/>
                  </a:ext>
                </a:extLst>
              </p14:cNvPr>
              <p14:cNvContentPartPr/>
              <p14:nvPr/>
            </p14:nvContentPartPr>
            <p14:xfrm>
              <a:off x="6573431" y="2308232"/>
              <a:ext cx="1617840" cy="12960"/>
            </p14:xfrm>
          </p:contentPart>
        </mc:Choice>
        <mc:Fallback xmlns=""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6DA62FB3-818B-CEA3-7E24-D367791B54F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19431" y="2200232"/>
                <a:ext cx="1725480" cy="22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1807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9068109-F335-34EC-CC12-6810A4EE8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1FFDD-132D-4B5B-AD6B-BCC06A41D268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4CD5F27B-056C-C7F0-74F0-2BDFC0DD18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859" y="1208471"/>
            <a:ext cx="4664785" cy="4620829"/>
          </a:xfrm>
          <a:prstGeom prst="rect">
            <a:avLst/>
          </a:prstGeom>
        </p:spPr>
      </p:pic>
      <p:sp>
        <p:nvSpPr>
          <p:cNvPr id="30" name="Titre 1">
            <a:extLst>
              <a:ext uri="{FF2B5EF4-FFF2-40B4-BE49-F238E27FC236}">
                <a16:creationId xmlns:a16="http://schemas.microsoft.com/office/drawing/2014/main" id="{65D107D2-6FEC-5957-D5AB-6379BAD9DAC9}"/>
              </a:ext>
            </a:extLst>
          </p:cNvPr>
          <p:cNvSpPr txBox="1">
            <a:spLocks/>
          </p:cNvSpPr>
          <p:nvPr/>
        </p:nvSpPr>
        <p:spPr>
          <a:xfrm>
            <a:off x="1401183" y="308471"/>
            <a:ext cx="10312449" cy="9000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kern="0" noProof="0" dirty="0"/>
              <a:t>Step 2: Feature outline masks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B1FFFB44-FF20-0A89-F215-89E573A9FC9C}"/>
              </a:ext>
            </a:extLst>
          </p:cNvPr>
          <p:cNvSpPr/>
          <p:nvPr/>
        </p:nvSpPr>
        <p:spPr bwMode="auto">
          <a:xfrm>
            <a:off x="5782847" y="3207735"/>
            <a:ext cx="954012" cy="622300"/>
          </a:xfrm>
          <a:prstGeom prst="rightArrow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B0C0DD3-B180-751C-20AD-8F259B499238}"/>
              </a:ext>
            </a:extLst>
          </p:cNvPr>
          <p:cNvGrpSpPr/>
          <p:nvPr/>
        </p:nvGrpSpPr>
        <p:grpSpPr>
          <a:xfrm>
            <a:off x="1118061" y="1208471"/>
            <a:ext cx="4664785" cy="4620829"/>
            <a:chOff x="1117789" y="1208471"/>
            <a:chExt cx="4665058" cy="4620829"/>
          </a:xfrm>
        </p:grpSpPr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A34B7CE2-8771-40D8-45E8-B191815A9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789" y="1208471"/>
              <a:ext cx="4665058" cy="4620829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E706A0-BA21-3823-C4D9-DD7E5FD99203}"/>
                </a:ext>
              </a:extLst>
            </p:cNvPr>
            <p:cNvSpPr/>
            <p:nvPr/>
          </p:nvSpPr>
          <p:spPr bwMode="auto">
            <a:xfrm rot="18120368">
              <a:off x="4513638" y="3165287"/>
              <a:ext cx="159237" cy="127795"/>
            </a:xfrm>
            <a:prstGeom prst="rect">
              <a:avLst/>
            </a:prstGeom>
            <a:solidFill>
              <a:srgbClr val="FFFFFF">
                <a:alpha val="85098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CH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590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>
            <a:extLst>
              <a:ext uri="{FF2B5EF4-FFF2-40B4-BE49-F238E27FC236}">
                <a16:creationId xmlns:a16="http://schemas.microsoft.com/office/drawing/2014/main" id="{14E16FCB-10DB-2DCC-E003-510973E6D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1" y="804512"/>
            <a:ext cx="5299218" cy="524928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B12BF2A-5FE6-EC01-612B-F0769842C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3-4: Intersection + Filtering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F888801-B5BF-AE85-FDB9-F076B17DA4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21FFDD-132D-4B5B-AD6B-BCC06A41D268}" type="slidenum">
              <a:rPr lang="en-US" noProof="0" smtClean="0"/>
              <a:pPr/>
              <a:t>6</a:t>
            </a:fld>
            <a:endParaRPr lang="en-US" noProof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7" name="Encre 56">
                <a:extLst>
                  <a:ext uri="{FF2B5EF4-FFF2-40B4-BE49-F238E27FC236}">
                    <a16:creationId xmlns:a16="http://schemas.microsoft.com/office/drawing/2014/main" id="{F833092B-0B99-C670-35ED-06B1A3D8FAF2}"/>
                  </a:ext>
                </a:extLst>
              </p14:cNvPr>
              <p14:cNvContentPartPr/>
              <p14:nvPr/>
            </p14:nvContentPartPr>
            <p14:xfrm>
              <a:off x="3409770" y="3095340"/>
              <a:ext cx="1086120" cy="1781640"/>
            </p14:xfrm>
          </p:contentPart>
        </mc:Choice>
        <mc:Fallback xmlns="">
          <p:pic>
            <p:nvPicPr>
              <p:cNvPr id="57" name="Encre 56">
                <a:extLst>
                  <a:ext uri="{FF2B5EF4-FFF2-40B4-BE49-F238E27FC236}">
                    <a16:creationId xmlns:a16="http://schemas.microsoft.com/office/drawing/2014/main" id="{F833092B-0B99-C670-35ED-06B1A3D8FA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5770" y="2987340"/>
                <a:ext cx="1193760" cy="19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9" name="Encre 58">
                <a:extLst>
                  <a:ext uri="{FF2B5EF4-FFF2-40B4-BE49-F238E27FC236}">
                    <a16:creationId xmlns:a16="http://schemas.microsoft.com/office/drawing/2014/main" id="{4131882B-25A3-E1F6-00B3-DAE37639699C}"/>
                  </a:ext>
                </a:extLst>
              </p14:cNvPr>
              <p14:cNvContentPartPr/>
              <p14:nvPr/>
            </p14:nvContentPartPr>
            <p14:xfrm>
              <a:off x="2561970" y="1923900"/>
              <a:ext cx="3067560" cy="1829160"/>
            </p14:xfrm>
          </p:contentPart>
        </mc:Choice>
        <mc:Fallback xmlns="">
          <p:pic>
            <p:nvPicPr>
              <p:cNvPr id="59" name="Encre 58">
                <a:extLst>
                  <a:ext uri="{FF2B5EF4-FFF2-40B4-BE49-F238E27FC236}">
                    <a16:creationId xmlns:a16="http://schemas.microsoft.com/office/drawing/2014/main" id="{4131882B-25A3-E1F6-00B3-DAE37639699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07970" y="1815900"/>
                <a:ext cx="3175200" cy="20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7" name="Encre 66">
                <a:extLst>
                  <a:ext uri="{FF2B5EF4-FFF2-40B4-BE49-F238E27FC236}">
                    <a16:creationId xmlns:a16="http://schemas.microsoft.com/office/drawing/2014/main" id="{498E0C4D-7381-1B47-4118-553EA144B8EA}"/>
                  </a:ext>
                </a:extLst>
              </p14:cNvPr>
              <p14:cNvContentPartPr/>
              <p14:nvPr/>
            </p14:nvContentPartPr>
            <p14:xfrm>
              <a:off x="847650" y="4628940"/>
              <a:ext cx="2276640" cy="476640"/>
            </p14:xfrm>
          </p:contentPart>
        </mc:Choice>
        <mc:Fallback xmlns="">
          <p:pic>
            <p:nvPicPr>
              <p:cNvPr id="67" name="Encre 66">
                <a:extLst>
                  <a:ext uri="{FF2B5EF4-FFF2-40B4-BE49-F238E27FC236}">
                    <a16:creationId xmlns:a16="http://schemas.microsoft.com/office/drawing/2014/main" id="{498E0C4D-7381-1B47-4118-553EA144B8E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3650" y="4520940"/>
                <a:ext cx="2384280" cy="69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9" name="Encre 68">
                <a:extLst>
                  <a:ext uri="{FF2B5EF4-FFF2-40B4-BE49-F238E27FC236}">
                    <a16:creationId xmlns:a16="http://schemas.microsoft.com/office/drawing/2014/main" id="{DE684D26-2AF3-234F-3EDA-263AB3313401}"/>
                  </a:ext>
                </a:extLst>
              </p14:cNvPr>
              <p14:cNvContentPartPr/>
              <p14:nvPr/>
            </p14:nvContentPartPr>
            <p14:xfrm>
              <a:off x="4124010" y="2095260"/>
              <a:ext cx="1552680" cy="772200"/>
            </p14:xfrm>
          </p:contentPart>
        </mc:Choice>
        <mc:Fallback xmlns="">
          <p:pic>
            <p:nvPicPr>
              <p:cNvPr id="69" name="Encre 68">
                <a:extLst>
                  <a:ext uri="{FF2B5EF4-FFF2-40B4-BE49-F238E27FC236}">
                    <a16:creationId xmlns:a16="http://schemas.microsoft.com/office/drawing/2014/main" id="{DE684D26-2AF3-234F-3EDA-263AB331340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70370" y="1987260"/>
                <a:ext cx="1660320" cy="9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1" name="Encre 70">
                <a:extLst>
                  <a:ext uri="{FF2B5EF4-FFF2-40B4-BE49-F238E27FC236}">
                    <a16:creationId xmlns:a16="http://schemas.microsoft.com/office/drawing/2014/main" id="{8DAB634A-2DCC-FC16-8E45-BC110A5F9565}"/>
                  </a:ext>
                </a:extLst>
              </p14:cNvPr>
              <p14:cNvContentPartPr/>
              <p14:nvPr/>
            </p14:nvContentPartPr>
            <p14:xfrm>
              <a:off x="3143010" y="2933700"/>
              <a:ext cx="972000" cy="1648080"/>
            </p14:xfrm>
          </p:contentPart>
        </mc:Choice>
        <mc:Fallback xmlns="">
          <p:pic>
            <p:nvPicPr>
              <p:cNvPr id="71" name="Encre 70">
                <a:extLst>
                  <a:ext uri="{FF2B5EF4-FFF2-40B4-BE49-F238E27FC236}">
                    <a16:creationId xmlns:a16="http://schemas.microsoft.com/office/drawing/2014/main" id="{8DAB634A-2DCC-FC16-8E45-BC110A5F956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089010" y="2825700"/>
                <a:ext cx="1079640" cy="186372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F7ABA37B-41C5-FED4-7C8A-9457D0AA14A5}"/>
              </a:ext>
            </a:extLst>
          </p:cNvPr>
          <p:cNvSpPr/>
          <p:nvPr/>
        </p:nvSpPr>
        <p:spPr bwMode="auto">
          <a:xfrm rot="1731236">
            <a:off x="4373173" y="2965014"/>
            <a:ext cx="230368" cy="218341"/>
          </a:xfrm>
          <a:prstGeom prst="rect">
            <a:avLst/>
          </a:prstGeom>
          <a:solidFill>
            <a:srgbClr val="939393">
              <a:alpha val="50196"/>
            </a:srgbClr>
          </a:solidFill>
          <a:ln>
            <a:prstDash val="sysDash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19CEF5-A84D-6DAB-18E2-EACB1A457FA0}"/>
              </a:ext>
            </a:extLst>
          </p:cNvPr>
          <p:cNvSpPr/>
          <p:nvPr/>
        </p:nvSpPr>
        <p:spPr bwMode="auto">
          <a:xfrm rot="1798433">
            <a:off x="4044624" y="2771382"/>
            <a:ext cx="230368" cy="218341"/>
          </a:xfrm>
          <a:prstGeom prst="rect">
            <a:avLst/>
          </a:prstGeom>
          <a:solidFill>
            <a:srgbClr val="939393">
              <a:alpha val="50196"/>
            </a:srgbClr>
          </a:solidFill>
          <a:ln>
            <a:prstDash val="sysDash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1F498C8-ACA1-7FB1-3509-0D4EA14F5834}"/>
              </a:ext>
            </a:extLst>
          </p:cNvPr>
          <p:cNvSpPr txBox="1"/>
          <p:nvPr/>
        </p:nvSpPr>
        <p:spPr>
          <a:xfrm>
            <a:off x="6071448" y="3228945"/>
            <a:ext cx="5642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noProof="0" dirty="0">
                <a:latin typeface="+mj-lt"/>
              </a:rPr>
              <a:t>We have two intersections, but do we have any crossings?</a:t>
            </a:r>
          </a:p>
        </p:txBody>
      </p:sp>
    </p:spTree>
    <p:extLst>
      <p:ext uri="{BB962C8B-B14F-4D97-AF65-F5344CB8AC3E}">
        <p14:creationId xmlns:p14="http://schemas.microsoft.com/office/powerpoint/2010/main" val="392601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AB0D9-7D68-C167-E1B0-C0004839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84F32B-4B20-D3EF-5C89-0D22666F231C}"/>
              </a:ext>
            </a:extLst>
          </p:cNvPr>
          <p:cNvSpPr/>
          <p:nvPr/>
        </p:nvSpPr>
        <p:spPr bwMode="auto">
          <a:xfrm>
            <a:off x="1401183" y="1449388"/>
            <a:ext cx="4895830" cy="520869"/>
          </a:xfrm>
          <a:prstGeom prst="rect">
            <a:avLst/>
          </a:prstGeom>
          <a:solidFill>
            <a:srgbClr val="D9EFFD"/>
          </a:solidFill>
          <a:ln w="9525" cap="flat" cmpd="sng" algn="ctr">
            <a:solidFill>
              <a:srgbClr val="D9EFF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7B1FE87-4891-3021-77ED-922A6B21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5: Detecting True Crossings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007CB96-B23B-FE97-4460-0E9391AE63F1}"/>
              </a:ext>
            </a:extLst>
          </p:cNvPr>
          <p:cNvSpPr>
            <a:spLocks noGrp="1"/>
          </p:cNvSpPr>
          <p:nvPr>
            <p:ph idx="1"/>
          </p:nvPr>
        </p:nvSpPr>
        <p:spPr>
          <a:ln w="38100">
            <a:solidFill>
              <a:srgbClr val="D9EFFD"/>
            </a:solidFill>
          </a:ln>
        </p:spPr>
        <p:txBody>
          <a:bodyPr/>
          <a:lstStyle/>
          <a:p>
            <a:pPr marL="0" indent="0" algn="ctr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noProof="0" dirty="0"/>
              <a:t>True crossing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9C46A341-13D5-F4FC-9742-53F5C1029F0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Not a True Crossing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3CE05F6-6652-5A17-C520-CDE7DD89A0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21FFDD-132D-4B5B-AD6B-BCC06A41D268}" type="slidenum">
              <a:rPr lang="en-US" noProof="0" smtClean="0"/>
              <a:pPr/>
              <a:t>7</a:t>
            </a:fld>
            <a:endParaRPr lang="en-US" noProof="0" dirty="0"/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071387F9-E7F6-3D53-E609-3419E1AF9819}"/>
              </a:ext>
            </a:extLst>
          </p:cNvPr>
          <p:cNvGrpSpPr/>
          <p:nvPr/>
        </p:nvGrpSpPr>
        <p:grpSpPr>
          <a:xfrm>
            <a:off x="2718310" y="2583981"/>
            <a:ext cx="2257425" cy="2257425"/>
            <a:chOff x="7124700" y="1495635"/>
            <a:chExt cx="2257425" cy="2257425"/>
          </a:xfrm>
        </p:grpSpPr>
        <p:sp>
          <p:nvSpPr>
            <p:cNvPr id="36" name="Rectangle : coins arrondis 35">
              <a:extLst>
                <a:ext uri="{FF2B5EF4-FFF2-40B4-BE49-F238E27FC236}">
                  <a16:creationId xmlns:a16="http://schemas.microsoft.com/office/drawing/2014/main" id="{8B9D4265-3D96-0B72-30B9-F9F139059F2C}"/>
                </a:ext>
              </a:extLst>
            </p:cNvPr>
            <p:cNvSpPr/>
            <p:nvPr/>
          </p:nvSpPr>
          <p:spPr bwMode="auto">
            <a:xfrm>
              <a:off x="7124700" y="2257425"/>
              <a:ext cx="2257425" cy="610035"/>
            </a:xfrm>
            <a:prstGeom prst="round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8" name="Rectangle : coins arrondis 37">
              <a:extLst>
                <a:ext uri="{FF2B5EF4-FFF2-40B4-BE49-F238E27FC236}">
                  <a16:creationId xmlns:a16="http://schemas.microsoft.com/office/drawing/2014/main" id="{7B1D6ECC-39DC-1C05-8C6B-0091CD0B0310}"/>
                </a:ext>
              </a:extLst>
            </p:cNvPr>
            <p:cNvSpPr/>
            <p:nvPr/>
          </p:nvSpPr>
          <p:spPr bwMode="auto">
            <a:xfrm rot="5400000">
              <a:off x="7110374" y="2319330"/>
              <a:ext cx="2257425" cy="610035"/>
            </a:xfrm>
            <a:prstGeom prst="round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B4D40303-9A31-1964-6415-F133F827D5D6}"/>
                </a:ext>
              </a:extLst>
            </p:cNvPr>
            <p:cNvCxnSpPr>
              <a:stCxn id="36" idx="1"/>
              <a:endCxn id="36" idx="3"/>
            </p:cNvCxnSpPr>
            <p:nvPr/>
          </p:nvCxnSpPr>
          <p:spPr bwMode="auto">
            <a:xfrm>
              <a:off x="7124700" y="2562443"/>
              <a:ext cx="2257425" cy="0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Connecteur droit 41">
              <a:extLst>
                <a:ext uri="{FF2B5EF4-FFF2-40B4-BE49-F238E27FC236}">
                  <a16:creationId xmlns:a16="http://schemas.microsoft.com/office/drawing/2014/main" id="{D5486C5E-8F7E-39E4-0670-EDCE65C74BD4}"/>
                </a:ext>
              </a:extLst>
            </p:cNvPr>
            <p:cNvCxnSpPr>
              <a:cxnSpLocks/>
              <a:stCxn id="38" idx="3"/>
              <a:endCxn id="38" idx="1"/>
            </p:cNvCxnSpPr>
            <p:nvPr/>
          </p:nvCxnSpPr>
          <p:spPr bwMode="auto">
            <a:xfrm flipV="1">
              <a:off x="8239086" y="1495635"/>
              <a:ext cx="0" cy="2257425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B555043-43EC-EA98-B19B-D988DB4BFB5F}"/>
                </a:ext>
              </a:extLst>
            </p:cNvPr>
            <p:cNvSpPr/>
            <p:nvPr/>
          </p:nvSpPr>
          <p:spPr bwMode="auto">
            <a:xfrm>
              <a:off x="7934069" y="2257425"/>
              <a:ext cx="610034" cy="610027"/>
            </a:xfrm>
            <a:prstGeom prst="rect">
              <a:avLst/>
            </a:prstGeom>
            <a:solidFill>
              <a:srgbClr val="FFCC60">
                <a:alpha val="6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ECCD9AEB-D7D8-4F0D-4832-489BEA5339E0}"/>
                </a:ext>
              </a:extLst>
            </p:cNvPr>
            <p:cNvSpPr/>
            <p:nvPr/>
          </p:nvSpPr>
          <p:spPr bwMode="auto">
            <a:xfrm>
              <a:off x="7869408" y="2200387"/>
              <a:ext cx="114300" cy="11406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6A0FAC7D-E119-B265-7942-8A849638C822}"/>
                </a:ext>
              </a:extLst>
            </p:cNvPr>
            <p:cNvSpPr/>
            <p:nvPr/>
          </p:nvSpPr>
          <p:spPr bwMode="auto">
            <a:xfrm>
              <a:off x="8486953" y="2200387"/>
              <a:ext cx="114300" cy="11406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0A8B79B6-F4E4-9658-B77D-2749F3E95D14}"/>
                </a:ext>
              </a:extLst>
            </p:cNvPr>
            <p:cNvSpPr/>
            <p:nvPr/>
          </p:nvSpPr>
          <p:spPr bwMode="auto">
            <a:xfrm>
              <a:off x="7876920" y="2804645"/>
              <a:ext cx="114300" cy="11406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6FA40829-28E8-27E8-37A8-D42B58163033}"/>
                </a:ext>
              </a:extLst>
            </p:cNvPr>
            <p:cNvSpPr/>
            <p:nvPr/>
          </p:nvSpPr>
          <p:spPr bwMode="auto">
            <a:xfrm>
              <a:off x="8486952" y="2804645"/>
              <a:ext cx="114300" cy="11406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4644290-4C49-A359-253E-0F9577CB4C38}"/>
              </a:ext>
            </a:extLst>
          </p:cNvPr>
          <p:cNvSpPr/>
          <p:nvPr/>
        </p:nvSpPr>
        <p:spPr bwMode="auto">
          <a:xfrm>
            <a:off x="6765050" y="1449388"/>
            <a:ext cx="4895830" cy="520869"/>
          </a:xfrm>
          <a:prstGeom prst="rect">
            <a:avLst/>
          </a:prstGeom>
          <a:solidFill>
            <a:srgbClr val="D9EFFD"/>
          </a:solidFill>
          <a:ln w="9525" cap="flat" cmpd="sng" algn="ctr">
            <a:solidFill>
              <a:srgbClr val="D9EFF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" name="Espace réservé du contenu 7">
            <a:extLst>
              <a:ext uri="{FF2B5EF4-FFF2-40B4-BE49-F238E27FC236}">
                <a16:creationId xmlns:a16="http://schemas.microsoft.com/office/drawing/2014/main" id="{555B95BB-D03C-C674-97D8-AC5BF7FFF35F}"/>
              </a:ext>
            </a:extLst>
          </p:cNvPr>
          <p:cNvSpPr txBox="1">
            <a:spLocks/>
          </p:cNvSpPr>
          <p:nvPr/>
        </p:nvSpPr>
        <p:spPr bwMode="auto">
          <a:xfrm>
            <a:off x="6765050" y="1449388"/>
            <a:ext cx="4896000" cy="4526612"/>
          </a:xfrm>
          <a:prstGeom prst="rect">
            <a:avLst/>
          </a:prstGeom>
          <a:noFill/>
          <a:ln w="38100">
            <a:solidFill>
              <a:srgbClr val="D9EFFD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2pPr>
            <a:lvl3pPr marL="806450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3pPr>
            <a:lvl4pPr marL="1076325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4pPr>
            <a:lvl5pPr marL="1344613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kern="0" dirty="0"/>
              <a:t>Not crossing</a:t>
            </a:r>
          </a:p>
        </p:txBody>
      </p: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3DCE8BD5-173A-E7D3-AC2A-283D72354130}"/>
              </a:ext>
            </a:extLst>
          </p:cNvPr>
          <p:cNvGrpSpPr/>
          <p:nvPr/>
        </p:nvGrpSpPr>
        <p:grpSpPr>
          <a:xfrm>
            <a:off x="6916193" y="2217050"/>
            <a:ext cx="1515166" cy="2257425"/>
            <a:chOff x="7181338" y="3934035"/>
            <a:chExt cx="1515166" cy="2257425"/>
          </a:xfrm>
        </p:grpSpPr>
        <p:sp>
          <p:nvSpPr>
            <p:cNvPr id="53" name="Rectangle : coins arrondis 52">
              <a:extLst>
                <a:ext uri="{FF2B5EF4-FFF2-40B4-BE49-F238E27FC236}">
                  <a16:creationId xmlns:a16="http://schemas.microsoft.com/office/drawing/2014/main" id="{9826D5B0-3BEF-EC82-E261-317C3FAE849B}"/>
                </a:ext>
              </a:extLst>
            </p:cNvPr>
            <p:cNvSpPr/>
            <p:nvPr/>
          </p:nvSpPr>
          <p:spPr bwMode="auto">
            <a:xfrm>
              <a:off x="7181338" y="4690032"/>
              <a:ext cx="1515165" cy="610035"/>
            </a:xfrm>
            <a:prstGeom prst="round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4" name="Rectangle : coins arrondis 53">
              <a:extLst>
                <a:ext uri="{FF2B5EF4-FFF2-40B4-BE49-F238E27FC236}">
                  <a16:creationId xmlns:a16="http://schemas.microsoft.com/office/drawing/2014/main" id="{AD8B2E37-36BA-EE23-E811-2F09F85B6348}"/>
                </a:ext>
              </a:extLst>
            </p:cNvPr>
            <p:cNvSpPr/>
            <p:nvPr/>
          </p:nvSpPr>
          <p:spPr bwMode="auto">
            <a:xfrm rot="5400000">
              <a:off x="7262774" y="4757730"/>
              <a:ext cx="2257425" cy="610035"/>
            </a:xfrm>
            <a:prstGeom prst="round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55" name="Connecteur droit 54">
              <a:extLst>
                <a:ext uri="{FF2B5EF4-FFF2-40B4-BE49-F238E27FC236}">
                  <a16:creationId xmlns:a16="http://schemas.microsoft.com/office/drawing/2014/main" id="{265AB447-A28C-F2AA-B1F2-43C23D3FC0C5}"/>
                </a:ext>
              </a:extLst>
            </p:cNvPr>
            <p:cNvCxnSpPr>
              <a:cxnSpLocks/>
              <a:stCxn id="53" idx="1"/>
              <a:endCxn id="53" idx="3"/>
            </p:cNvCxnSpPr>
            <p:nvPr/>
          </p:nvCxnSpPr>
          <p:spPr bwMode="auto">
            <a:xfrm>
              <a:off x="7181338" y="4995050"/>
              <a:ext cx="1515165" cy="0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6" name="Connecteur droit 55">
              <a:extLst>
                <a:ext uri="{FF2B5EF4-FFF2-40B4-BE49-F238E27FC236}">
                  <a16:creationId xmlns:a16="http://schemas.microsoft.com/office/drawing/2014/main" id="{C26CBDD5-96BD-142C-1A1D-DEABD097BFE7}"/>
                </a:ext>
              </a:extLst>
            </p:cNvPr>
            <p:cNvCxnSpPr>
              <a:cxnSpLocks/>
              <a:stCxn id="54" idx="3"/>
              <a:endCxn id="54" idx="1"/>
            </p:cNvCxnSpPr>
            <p:nvPr/>
          </p:nvCxnSpPr>
          <p:spPr bwMode="auto">
            <a:xfrm flipV="1">
              <a:off x="8391486" y="3934035"/>
              <a:ext cx="0" cy="2257425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5DC86B0-D50A-DB4F-1C43-9AD9C3A38B5A}"/>
                </a:ext>
              </a:extLst>
            </p:cNvPr>
            <p:cNvSpPr/>
            <p:nvPr/>
          </p:nvSpPr>
          <p:spPr bwMode="auto">
            <a:xfrm>
              <a:off x="8086469" y="4695825"/>
              <a:ext cx="610034" cy="610027"/>
            </a:xfrm>
            <a:prstGeom prst="rect">
              <a:avLst/>
            </a:prstGeom>
            <a:solidFill>
              <a:srgbClr val="FFCC60">
                <a:alpha val="6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C98CB9B3-DFCC-8FCF-D577-BAEAB331F6B5}"/>
                </a:ext>
              </a:extLst>
            </p:cNvPr>
            <p:cNvSpPr/>
            <p:nvPr/>
          </p:nvSpPr>
          <p:spPr bwMode="auto">
            <a:xfrm>
              <a:off x="8021808" y="4638787"/>
              <a:ext cx="114300" cy="11406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68F7FC3E-1B70-005A-F8F6-62C751A45D5C}"/>
                </a:ext>
              </a:extLst>
            </p:cNvPr>
            <p:cNvSpPr/>
            <p:nvPr/>
          </p:nvSpPr>
          <p:spPr bwMode="auto">
            <a:xfrm>
              <a:off x="8029320" y="5243045"/>
              <a:ext cx="114300" cy="11406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grpSp>
        <p:nvGrpSpPr>
          <p:cNvPr id="93" name="Groupe 92">
            <a:extLst>
              <a:ext uri="{FF2B5EF4-FFF2-40B4-BE49-F238E27FC236}">
                <a16:creationId xmlns:a16="http://schemas.microsoft.com/office/drawing/2014/main" id="{F049FFC0-7F51-E99F-77AC-67464F0A2E6A}"/>
              </a:ext>
            </a:extLst>
          </p:cNvPr>
          <p:cNvGrpSpPr/>
          <p:nvPr/>
        </p:nvGrpSpPr>
        <p:grpSpPr>
          <a:xfrm>
            <a:off x="9207662" y="2841686"/>
            <a:ext cx="1666874" cy="674199"/>
            <a:chOff x="9038209" y="4747052"/>
            <a:chExt cx="1666874" cy="674199"/>
          </a:xfrm>
        </p:grpSpPr>
        <p:sp>
          <p:nvSpPr>
            <p:cNvPr id="64" name="Rectangle : coins arrondis 63">
              <a:extLst>
                <a:ext uri="{FF2B5EF4-FFF2-40B4-BE49-F238E27FC236}">
                  <a16:creationId xmlns:a16="http://schemas.microsoft.com/office/drawing/2014/main" id="{9FC80FD7-7B66-9A78-B91D-38D87D313558}"/>
                </a:ext>
              </a:extLst>
            </p:cNvPr>
            <p:cNvSpPr/>
            <p:nvPr/>
          </p:nvSpPr>
          <p:spPr bwMode="auto">
            <a:xfrm>
              <a:off x="9038209" y="4771412"/>
              <a:ext cx="1057845" cy="610035"/>
            </a:xfrm>
            <a:prstGeom prst="round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65" name="Rectangle : coins arrondis 64">
              <a:extLst>
                <a:ext uri="{FF2B5EF4-FFF2-40B4-BE49-F238E27FC236}">
                  <a16:creationId xmlns:a16="http://schemas.microsoft.com/office/drawing/2014/main" id="{450BD6B2-A2E7-4C15-7C63-976C6E94AAE9}"/>
                </a:ext>
              </a:extLst>
            </p:cNvPr>
            <p:cNvSpPr/>
            <p:nvPr/>
          </p:nvSpPr>
          <p:spPr bwMode="auto">
            <a:xfrm rot="10800000">
              <a:off x="9859543" y="4765633"/>
              <a:ext cx="845540" cy="610035"/>
            </a:xfrm>
            <a:prstGeom prst="round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66" name="Connecteur droit 65">
              <a:extLst>
                <a:ext uri="{FF2B5EF4-FFF2-40B4-BE49-F238E27FC236}">
                  <a16:creationId xmlns:a16="http://schemas.microsoft.com/office/drawing/2014/main" id="{DD739481-33D8-F4B1-E3ED-D5C9C9D96661}"/>
                </a:ext>
              </a:extLst>
            </p:cNvPr>
            <p:cNvCxnSpPr>
              <a:cxnSpLocks/>
              <a:stCxn id="64" idx="1"/>
              <a:endCxn id="64" idx="3"/>
            </p:cNvCxnSpPr>
            <p:nvPr/>
          </p:nvCxnSpPr>
          <p:spPr bwMode="auto">
            <a:xfrm>
              <a:off x="9038209" y="5076430"/>
              <a:ext cx="1057845" cy="0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7" name="Connecteur droit 66">
              <a:extLst>
                <a:ext uri="{FF2B5EF4-FFF2-40B4-BE49-F238E27FC236}">
                  <a16:creationId xmlns:a16="http://schemas.microsoft.com/office/drawing/2014/main" id="{B309BCC7-A8C0-72E3-C9F8-86ECD6302C47}"/>
                </a:ext>
              </a:extLst>
            </p:cNvPr>
            <p:cNvCxnSpPr>
              <a:cxnSpLocks/>
              <a:stCxn id="65" idx="3"/>
              <a:endCxn id="65" idx="1"/>
            </p:cNvCxnSpPr>
            <p:nvPr/>
          </p:nvCxnSpPr>
          <p:spPr bwMode="auto">
            <a:xfrm>
              <a:off x="9859543" y="5070650"/>
              <a:ext cx="845540" cy="0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970E1B7-20EF-6F8F-9263-5656F139F1DF}"/>
                </a:ext>
              </a:extLst>
            </p:cNvPr>
            <p:cNvSpPr/>
            <p:nvPr/>
          </p:nvSpPr>
          <p:spPr bwMode="auto">
            <a:xfrm>
              <a:off x="9859543" y="4771420"/>
              <a:ext cx="236511" cy="610027"/>
            </a:xfrm>
            <a:prstGeom prst="rect">
              <a:avLst/>
            </a:prstGeom>
            <a:solidFill>
              <a:srgbClr val="FFCC60">
                <a:alpha val="6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3D7D8D32-5441-3EAB-D950-ECFD7236E70D}"/>
                </a:ext>
              </a:extLst>
            </p:cNvPr>
            <p:cNvSpPr/>
            <p:nvPr/>
          </p:nvSpPr>
          <p:spPr bwMode="auto">
            <a:xfrm>
              <a:off x="9802393" y="4747052"/>
              <a:ext cx="114300" cy="11406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65E3A36B-9019-470C-1EEA-D97E61C31B0B}"/>
                </a:ext>
              </a:extLst>
            </p:cNvPr>
            <p:cNvSpPr/>
            <p:nvPr/>
          </p:nvSpPr>
          <p:spPr bwMode="auto">
            <a:xfrm>
              <a:off x="9802393" y="5307191"/>
              <a:ext cx="114300" cy="11406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AE43EB09-FE2F-5402-B2A8-A73AAD3F8546}"/>
              </a:ext>
            </a:extLst>
          </p:cNvPr>
          <p:cNvGrpSpPr/>
          <p:nvPr/>
        </p:nvGrpSpPr>
        <p:grpSpPr>
          <a:xfrm>
            <a:off x="8860046" y="4605779"/>
            <a:ext cx="2348676" cy="1071549"/>
            <a:chOff x="8740340" y="3259590"/>
            <a:chExt cx="2348676" cy="1071549"/>
          </a:xfrm>
        </p:grpSpPr>
        <p:sp>
          <p:nvSpPr>
            <p:cNvPr id="85" name="Rectangle : coins arrondis 84">
              <a:extLst>
                <a:ext uri="{FF2B5EF4-FFF2-40B4-BE49-F238E27FC236}">
                  <a16:creationId xmlns:a16="http://schemas.microsoft.com/office/drawing/2014/main" id="{FB2CBCA2-FAF5-2B07-869A-7B9B4A00E294}"/>
                </a:ext>
              </a:extLst>
            </p:cNvPr>
            <p:cNvSpPr/>
            <p:nvPr/>
          </p:nvSpPr>
          <p:spPr bwMode="auto">
            <a:xfrm>
              <a:off x="8781869" y="3721104"/>
              <a:ext cx="2257425" cy="610035"/>
            </a:xfrm>
            <a:prstGeom prst="round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86" name="Rectangle : coins arrondis 85">
              <a:extLst>
                <a:ext uri="{FF2B5EF4-FFF2-40B4-BE49-F238E27FC236}">
                  <a16:creationId xmlns:a16="http://schemas.microsoft.com/office/drawing/2014/main" id="{D56D6734-45F7-8955-2294-2946055E9D60}"/>
                </a:ext>
              </a:extLst>
            </p:cNvPr>
            <p:cNvSpPr/>
            <p:nvPr/>
          </p:nvSpPr>
          <p:spPr bwMode="auto">
            <a:xfrm rot="10800000">
              <a:off x="8781868" y="3259590"/>
              <a:ext cx="2257425" cy="610035"/>
            </a:xfrm>
            <a:prstGeom prst="round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87" name="Connecteur droit 86">
              <a:extLst>
                <a:ext uri="{FF2B5EF4-FFF2-40B4-BE49-F238E27FC236}">
                  <a16:creationId xmlns:a16="http://schemas.microsoft.com/office/drawing/2014/main" id="{CE64A8E7-5015-E499-6628-4B36AD4A560B}"/>
                </a:ext>
              </a:extLst>
            </p:cNvPr>
            <p:cNvCxnSpPr>
              <a:cxnSpLocks/>
              <a:stCxn id="85" idx="1"/>
              <a:endCxn id="85" idx="3"/>
            </p:cNvCxnSpPr>
            <p:nvPr/>
          </p:nvCxnSpPr>
          <p:spPr bwMode="auto">
            <a:xfrm>
              <a:off x="8781869" y="4026122"/>
              <a:ext cx="2257425" cy="0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8C291727-EF52-7C9C-FBAC-658731CB3415}"/>
                </a:ext>
              </a:extLst>
            </p:cNvPr>
            <p:cNvCxnSpPr>
              <a:cxnSpLocks/>
              <a:stCxn id="86" idx="3"/>
              <a:endCxn id="86" idx="1"/>
            </p:cNvCxnSpPr>
            <p:nvPr/>
          </p:nvCxnSpPr>
          <p:spPr bwMode="auto">
            <a:xfrm>
              <a:off x="8781868" y="3564607"/>
              <a:ext cx="2257425" cy="0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F66FE10D-25BC-1DA9-DA3C-9214BC0BCD50}"/>
                </a:ext>
              </a:extLst>
            </p:cNvPr>
            <p:cNvSpPr/>
            <p:nvPr/>
          </p:nvSpPr>
          <p:spPr bwMode="auto">
            <a:xfrm>
              <a:off x="8797490" y="3715325"/>
              <a:ext cx="2257425" cy="148513"/>
            </a:xfrm>
            <a:prstGeom prst="rect">
              <a:avLst/>
            </a:prstGeom>
            <a:solidFill>
              <a:srgbClr val="FFCC60">
                <a:alpha val="6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A484487F-F1C9-5BD9-7CE2-F565A951C794}"/>
                </a:ext>
              </a:extLst>
            </p:cNvPr>
            <p:cNvSpPr/>
            <p:nvPr/>
          </p:nvSpPr>
          <p:spPr bwMode="auto">
            <a:xfrm>
              <a:off x="8740340" y="3738335"/>
              <a:ext cx="114300" cy="11406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09220DED-3DF0-C622-B147-581ED85DA8E1}"/>
                </a:ext>
              </a:extLst>
            </p:cNvPr>
            <p:cNvSpPr/>
            <p:nvPr/>
          </p:nvSpPr>
          <p:spPr bwMode="auto">
            <a:xfrm>
              <a:off x="10974716" y="3738335"/>
              <a:ext cx="114300" cy="11406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pic>
        <p:nvPicPr>
          <p:cNvPr id="14" name="Graphique 13" descr="Case cochée avec un remplissage uni">
            <a:extLst>
              <a:ext uri="{FF2B5EF4-FFF2-40B4-BE49-F238E27FC236}">
                <a16:creationId xmlns:a16="http://schemas.microsoft.com/office/drawing/2014/main" id="{1876BDA3-1C14-B051-6A6B-A683F234CE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8705" y="1400217"/>
            <a:ext cx="619209" cy="619209"/>
          </a:xfrm>
          <a:prstGeom prst="rect">
            <a:avLst/>
          </a:prstGeom>
        </p:spPr>
      </p:pic>
      <p:pic>
        <p:nvPicPr>
          <p:cNvPr id="16" name="Graphique 15" descr="Case à cocher barrée avec un remplissage uni">
            <a:extLst>
              <a:ext uri="{FF2B5EF4-FFF2-40B4-BE49-F238E27FC236}">
                <a16:creationId xmlns:a16="http://schemas.microsoft.com/office/drawing/2014/main" id="{A6EA066E-9868-D844-06B1-C5D435B403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5335" y="1405838"/>
            <a:ext cx="619209" cy="61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3D55D-FDD2-F45D-F344-0E252313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F98BF9-AF36-9EB3-29F1-FD986D3F0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Crossing Criteria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3D8763-FCB9-0498-A9AC-D972C17977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21FFDD-132D-4B5B-AD6B-BCC06A41D268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F9416D41-D722-D39A-B770-899EEA73E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183" y="1871739"/>
            <a:ext cx="4896000" cy="31145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00" b="1" noProof="0" dirty="0">
                <a:solidFill>
                  <a:schemeClr val="accent1"/>
                </a:solidFill>
              </a:rPr>
              <a:t>Intersection point condition</a:t>
            </a:r>
          </a:p>
          <a:p>
            <a:pPr lvl="1">
              <a:lnSpc>
                <a:spcPct val="150000"/>
              </a:lnSpc>
            </a:pPr>
            <a:r>
              <a:rPr lang="en-US" sz="1400" noProof="0" dirty="0"/>
              <a:t>No less than 4 points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b="1" noProof="0" dirty="0">
                <a:solidFill>
                  <a:schemeClr val="accent1"/>
                </a:solidFill>
              </a:rPr>
              <a:t>Erase condition: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Erase the overlap polygon from the input mask. If </a:t>
            </a:r>
            <a:r>
              <a:rPr lang="en-US" sz="1400" dirty="0" err="1"/>
              <a:t>partCount</a:t>
            </a:r>
            <a:r>
              <a:rPr lang="en-US" sz="1400" dirty="0"/>
              <a:t> increases, the mask was split, confirming crossing</a:t>
            </a:r>
            <a:r>
              <a:rPr lang="en-US" sz="1400" noProof="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1400" b="1" noProof="0" dirty="0">
                <a:solidFill>
                  <a:schemeClr val="accent1"/>
                </a:solidFill>
              </a:rPr>
              <a:t>Shared endpoints condition: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If input and crossing lines share an endpoint that falls inside the overlap part, then it is not a true crossing. </a:t>
            </a:r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9F700DFD-BE1E-D4E4-401E-1532D5EF4937}"/>
              </a:ext>
            </a:extLst>
          </p:cNvPr>
          <p:cNvGrpSpPr/>
          <p:nvPr/>
        </p:nvGrpSpPr>
        <p:grpSpPr>
          <a:xfrm>
            <a:off x="7649500" y="743026"/>
            <a:ext cx="2257425" cy="2257425"/>
            <a:chOff x="7124700" y="1495635"/>
            <a:chExt cx="2257425" cy="2257425"/>
          </a:xfrm>
        </p:grpSpPr>
        <p:sp>
          <p:nvSpPr>
            <p:cNvPr id="36" name="Rectangle : coins arrondis 35">
              <a:extLst>
                <a:ext uri="{FF2B5EF4-FFF2-40B4-BE49-F238E27FC236}">
                  <a16:creationId xmlns:a16="http://schemas.microsoft.com/office/drawing/2014/main" id="{296446EF-0E1B-4F6D-304F-2C3B694E1BCA}"/>
                </a:ext>
              </a:extLst>
            </p:cNvPr>
            <p:cNvSpPr/>
            <p:nvPr/>
          </p:nvSpPr>
          <p:spPr bwMode="auto">
            <a:xfrm>
              <a:off x="7124700" y="2257425"/>
              <a:ext cx="2257425" cy="610035"/>
            </a:xfrm>
            <a:prstGeom prst="round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8" name="Rectangle : coins arrondis 37">
              <a:extLst>
                <a:ext uri="{FF2B5EF4-FFF2-40B4-BE49-F238E27FC236}">
                  <a16:creationId xmlns:a16="http://schemas.microsoft.com/office/drawing/2014/main" id="{5DBE93B9-277C-3B11-3AAD-FC3C675FD6C3}"/>
                </a:ext>
              </a:extLst>
            </p:cNvPr>
            <p:cNvSpPr/>
            <p:nvPr/>
          </p:nvSpPr>
          <p:spPr bwMode="auto">
            <a:xfrm rot="5400000">
              <a:off x="7110374" y="2319330"/>
              <a:ext cx="2257425" cy="610035"/>
            </a:xfrm>
            <a:prstGeom prst="round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95934460-0408-C38E-9248-E4E9C8A1D29A}"/>
                </a:ext>
              </a:extLst>
            </p:cNvPr>
            <p:cNvCxnSpPr>
              <a:stCxn id="36" idx="1"/>
              <a:endCxn id="36" idx="3"/>
            </p:cNvCxnSpPr>
            <p:nvPr/>
          </p:nvCxnSpPr>
          <p:spPr bwMode="auto">
            <a:xfrm>
              <a:off x="7124700" y="2562443"/>
              <a:ext cx="2257425" cy="0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Connecteur droit 41">
              <a:extLst>
                <a:ext uri="{FF2B5EF4-FFF2-40B4-BE49-F238E27FC236}">
                  <a16:creationId xmlns:a16="http://schemas.microsoft.com/office/drawing/2014/main" id="{5F8F0A29-03CE-1C36-9571-A886CF6659FD}"/>
                </a:ext>
              </a:extLst>
            </p:cNvPr>
            <p:cNvCxnSpPr>
              <a:cxnSpLocks/>
              <a:stCxn id="38" idx="3"/>
              <a:endCxn id="38" idx="1"/>
            </p:cNvCxnSpPr>
            <p:nvPr/>
          </p:nvCxnSpPr>
          <p:spPr bwMode="auto">
            <a:xfrm flipV="1">
              <a:off x="8239086" y="1495635"/>
              <a:ext cx="0" cy="2257425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96AEFA9-6B40-5C0F-5292-29B851946C9D}"/>
                </a:ext>
              </a:extLst>
            </p:cNvPr>
            <p:cNvSpPr/>
            <p:nvPr/>
          </p:nvSpPr>
          <p:spPr bwMode="auto">
            <a:xfrm>
              <a:off x="7934069" y="2257425"/>
              <a:ext cx="610034" cy="610027"/>
            </a:xfrm>
            <a:prstGeom prst="rect">
              <a:avLst/>
            </a:prstGeom>
            <a:solidFill>
              <a:srgbClr val="FFCC60">
                <a:alpha val="6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E861D77F-4289-E6EF-5A55-5B867062C46B}"/>
                </a:ext>
              </a:extLst>
            </p:cNvPr>
            <p:cNvSpPr/>
            <p:nvPr/>
          </p:nvSpPr>
          <p:spPr bwMode="auto">
            <a:xfrm>
              <a:off x="7869408" y="2200387"/>
              <a:ext cx="114300" cy="11406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C400A0C1-73D1-173E-17C1-677182AF774A}"/>
                </a:ext>
              </a:extLst>
            </p:cNvPr>
            <p:cNvSpPr/>
            <p:nvPr/>
          </p:nvSpPr>
          <p:spPr bwMode="auto">
            <a:xfrm>
              <a:off x="8486953" y="2200387"/>
              <a:ext cx="114300" cy="11406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73859DEF-B0F2-9E75-4461-18AD80139DD9}"/>
                </a:ext>
              </a:extLst>
            </p:cNvPr>
            <p:cNvSpPr/>
            <p:nvPr/>
          </p:nvSpPr>
          <p:spPr bwMode="auto">
            <a:xfrm>
              <a:off x="7876920" y="2804645"/>
              <a:ext cx="114300" cy="11406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E223602B-5C1A-0EBA-78ED-B83649325060}"/>
                </a:ext>
              </a:extLst>
            </p:cNvPr>
            <p:cNvSpPr/>
            <p:nvPr/>
          </p:nvSpPr>
          <p:spPr bwMode="auto">
            <a:xfrm>
              <a:off x="8486952" y="2804645"/>
              <a:ext cx="114300" cy="11406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D9BAA356-6016-3740-08FF-5D091454B40C}"/>
              </a:ext>
            </a:extLst>
          </p:cNvPr>
          <p:cNvGrpSpPr/>
          <p:nvPr/>
        </p:nvGrpSpPr>
        <p:grpSpPr>
          <a:xfrm>
            <a:off x="7989175" y="3428999"/>
            <a:ext cx="1079727" cy="1738483"/>
            <a:chOff x="7952178" y="3456151"/>
            <a:chExt cx="1079727" cy="1738483"/>
          </a:xfrm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9EBDF3EE-6C97-7705-79F3-E5010DBD2BCD}"/>
                </a:ext>
              </a:extLst>
            </p:cNvPr>
            <p:cNvSpPr/>
            <p:nvPr/>
          </p:nvSpPr>
          <p:spPr bwMode="auto">
            <a:xfrm>
              <a:off x="8409841" y="4262602"/>
              <a:ext cx="528181" cy="758824"/>
            </a:xfrm>
            <a:custGeom>
              <a:avLst/>
              <a:gdLst>
                <a:gd name="csX0" fmla="*/ 0 w 495300"/>
                <a:gd name="csY0" fmla="*/ 565150 h 762000"/>
                <a:gd name="csX1" fmla="*/ 139700 w 495300"/>
                <a:gd name="csY1" fmla="*/ 762000 h 762000"/>
                <a:gd name="csX2" fmla="*/ 495300 w 495300"/>
                <a:gd name="csY2" fmla="*/ 762000 h 762000"/>
                <a:gd name="csX3" fmla="*/ 12700 w 495300"/>
                <a:gd name="csY3" fmla="*/ 0 h 762000"/>
                <a:gd name="csX4" fmla="*/ 0 w 495300"/>
                <a:gd name="csY4" fmla="*/ 56515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95300" h="762000">
                  <a:moveTo>
                    <a:pt x="0" y="565150"/>
                  </a:moveTo>
                  <a:lnTo>
                    <a:pt x="139700" y="762000"/>
                  </a:lnTo>
                  <a:lnTo>
                    <a:pt x="495300" y="762000"/>
                  </a:lnTo>
                  <a:lnTo>
                    <a:pt x="12700" y="0"/>
                  </a:lnTo>
                  <a:cubicBezTo>
                    <a:pt x="10583" y="182033"/>
                    <a:pt x="8467" y="364067"/>
                    <a:pt x="0" y="565150"/>
                  </a:cubicBezTo>
                  <a:close/>
                </a:path>
              </a:pathLst>
            </a:custGeom>
            <a:solidFill>
              <a:srgbClr val="FFCC60">
                <a:alpha val="7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CH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110BD639-FF73-EF8C-8331-C4D02469B789}"/>
                </a:ext>
              </a:extLst>
            </p:cNvPr>
            <p:cNvGrpSpPr/>
            <p:nvPr/>
          </p:nvGrpSpPr>
          <p:grpSpPr>
            <a:xfrm>
              <a:off x="7952178" y="3456151"/>
              <a:ext cx="1079727" cy="1738483"/>
              <a:chOff x="7464376" y="2187786"/>
              <a:chExt cx="1079727" cy="1738483"/>
            </a:xfrm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D2B1E0B6-E87B-A2F8-824D-C33AC7705571}"/>
                  </a:ext>
                </a:extLst>
              </p:cNvPr>
              <p:cNvSpPr/>
              <p:nvPr/>
            </p:nvSpPr>
            <p:spPr bwMode="auto">
              <a:xfrm rot="3376109">
                <a:off x="7131810" y="3016259"/>
                <a:ext cx="1495695" cy="324325"/>
              </a:xfrm>
              <a:prstGeom prst="roundRect">
                <a:avLst/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0151919F-8F65-74DD-8C53-83928EF4E349}"/>
                  </a:ext>
                </a:extLst>
              </p:cNvPr>
              <p:cNvSpPr/>
              <p:nvPr/>
            </p:nvSpPr>
            <p:spPr bwMode="auto">
              <a:xfrm rot="5400000">
                <a:off x="7456449" y="2665405"/>
                <a:ext cx="1565274" cy="610035"/>
              </a:xfrm>
              <a:prstGeom prst="roundRect">
                <a:avLst/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cxnSp>
            <p:nvCxnSpPr>
              <p:cNvPr id="7" name="Connecteur droit 6">
                <a:extLst>
                  <a:ext uri="{FF2B5EF4-FFF2-40B4-BE49-F238E27FC236}">
                    <a16:creationId xmlns:a16="http://schemas.microsoft.com/office/drawing/2014/main" id="{5648580A-644A-8BC0-7196-9FF6AE755F71}"/>
                  </a:ext>
                </a:extLst>
              </p:cNvPr>
              <p:cNvCxnSpPr>
                <a:cxnSpLocks/>
                <a:stCxn id="4" idx="1"/>
                <a:endCxn id="4" idx="3"/>
              </p:cNvCxnSpPr>
              <p:nvPr/>
            </p:nvCxnSpPr>
            <p:spPr bwMode="auto">
              <a:xfrm>
                <a:off x="7464376" y="2556475"/>
                <a:ext cx="830562" cy="1243893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" name="Connecteur droit 8">
                <a:extLst>
                  <a:ext uri="{FF2B5EF4-FFF2-40B4-BE49-F238E27FC236}">
                    <a16:creationId xmlns:a16="http://schemas.microsoft.com/office/drawing/2014/main" id="{15DA88ED-359F-5932-B04F-F5EFBD9F1FE3}"/>
                  </a:ext>
                </a:extLst>
              </p:cNvPr>
              <p:cNvCxnSpPr>
                <a:cxnSpLocks/>
                <a:stCxn id="6" idx="3"/>
                <a:endCxn id="6" idx="1"/>
              </p:cNvCxnSpPr>
              <p:nvPr/>
            </p:nvCxnSpPr>
            <p:spPr bwMode="auto">
              <a:xfrm flipV="1">
                <a:off x="8239086" y="2187786"/>
                <a:ext cx="0" cy="1565274"/>
              </a:xfrm>
              <a:prstGeom prst="line">
                <a:avLst/>
              </a:prstGeom>
              <a:ln w="19050" cap="flat" cmpd="sng" algn="ctr">
                <a:solidFill>
                  <a:schemeClr val="accent4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0024F8A8-BC43-E893-C877-717EFCF32D4F}"/>
                  </a:ext>
                </a:extLst>
              </p:cNvPr>
              <p:cNvSpPr/>
              <p:nvPr/>
            </p:nvSpPr>
            <p:spPr bwMode="auto">
              <a:xfrm>
                <a:off x="7876919" y="2926138"/>
                <a:ext cx="114300" cy="1140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F1F2977D-F136-A30B-532C-FB7F4CE36FDD}"/>
                  </a:ext>
                </a:extLst>
              </p:cNvPr>
              <p:cNvSpPr/>
              <p:nvPr/>
            </p:nvSpPr>
            <p:spPr bwMode="auto">
              <a:xfrm>
                <a:off x="8321441" y="3686308"/>
                <a:ext cx="114300" cy="1140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D0EFFE30-A307-142F-83F3-6264F0266AC7}"/>
                  </a:ext>
                </a:extLst>
              </p:cNvPr>
              <p:cNvSpPr/>
              <p:nvPr/>
            </p:nvSpPr>
            <p:spPr bwMode="auto">
              <a:xfrm>
                <a:off x="7864889" y="3510853"/>
                <a:ext cx="114300" cy="1140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843A7C9C-203B-E631-3109-93BDDBA3E163}"/>
                  </a:ext>
                </a:extLst>
              </p:cNvPr>
              <p:cNvSpPr/>
              <p:nvPr/>
            </p:nvSpPr>
            <p:spPr bwMode="auto">
              <a:xfrm>
                <a:off x="8000205" y="3696030"/>
                <a:ext cx="114300" cy="11406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7214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6A09-76B9-C3DA-14E0-603E0ACBF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35C458-F945-C514-C4CB-F027CF9F6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6: Mask Coverage Check &amp; Output Flags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9820656-80B9-BAD0-5729-8E8A5E6AD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21FFDD-132D-4B5B-AD6B-BCC06A41D268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FD3EA974-19B1-E753-B5AA-732E07962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183" y="1637191"/>
            <a:ext cx="4895999" cy="3583617"/>
          </a:xfrm>
        </p:spPr>
        <p:txBody>
          <a:bodyPr>
            <a:noAutofit/>
          </a:bodyPr>
          <a:lstStyle/>
          <a:p>
            <a:pPr marL="0" indent="0">
              <a:lnSpc>
                <a:spcPct val="22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Mask Check</a:t>
            </a:r>
          </a:p>
          <a:p>
            <a:pPr marL="0" indent="0">
              <a:lnSpc>
                <a:spcPct val="220000"/>
              </a:lnSpc>
              <a:buFont typeface="Arial" panose="020B0604020202020204" pitchFamily="34" charset="0"/>
              <a:buNone/>
            </a:pPr>
            <a:r>
              <a:rPr lang="en-US" sz="1400" dirty="0"/>
              <a:t>For each confirmed Crossing:</a:t>
            </a:r>
          </a:p>
          <a:p>
            <a:pPr marL="342900" indent="-342900">
              <a:lnSpc>
                <a:spcPct val="220000"/>
              </a:lnSpc>
              <a:buFont typeface="+mj-lt"/>
              <a:buAutoNum type="arabicPeriod"/>
            </a:pPr>
            <a:r>
              <a:rPr lang="en-US" sz="1400" dirty="0"/>
              <a:t>Look up the input line in DKM25_STRASSE_OUREL to find associated mask IDs.</a:t>
            </a:r>
          </a:p>
          <a:p>
            <a:pPr marL="342900" indent="-342900">
              <a:lnSpc>
                <a:spcPct val="220000"/>
              </a:lnSpc>
              <a:buFont typeface="+mj-lt"/>
              <a:buAutoNum type="arabicPeriod"/>
            </a:pPr>
            <a:r>
              <a:rPr lang="en-US" sz="1400" dirty="0"/>
              <a:t>Load mask polygons from DKM25_STRASSE_OUMASK.</a:t>
            </a:r>
          </a:p>
          <a:p>
            <a:pPr marL="342900" indent="-342900">
              <a:lnSpc>
                <a:spcPct val="220000"/>
              </a:lnSpc>
              <a:buFont typeface="+mj-lt"/>
              <a:buAutoNum type="arabicPeriod"/>
            </a:pPr>
            <a:r>
              <a:rPr lang="en-US" sz="1400" dirty="0"/>
              <a:t>Check if any mask polygon is not disjoint from the crossing overlap area.</a:t>
            </a:r>
            <a:endParaRPr lang="en-US" sz="1400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3" name="Espace réservé du contenu 7">
            <a:extLst>
              <a:ext uri="{FF2B5EF4-FFF2-40B4-BE49-F238E27FC236}">
                <a16:creationId xmlns:a16="http://schemas.microsoft.com/office/drawing/2014/main" id="{89A38AE6-AB51-7FDD-89FD-533C39B14DA3}"/>
              </a:ext>
            </a:extLst>
          </p:cNvPr>
          <p:cNvSpPr txBox="1">
            <a:spLocks/>
          </p:cNvSpPr>
          <p:nvPr/>
        </p:nvSpPr>
        <p:spPr bwMode="auto">
          <a:xfrm>
            <a:off x="6802454" y="1637191"/>
            <a:ext cx="4896000" cy="3063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marL="268288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2pPr>
            <a:lvl3pPr marL="806450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3pPr>
            <a:lvl4pPr marL="1076325" indent="-269875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4pPr>
            <a:lvl5pPr marL="1344613" indent="-268288" algn="l" rtl="0" eaLnBrk="1" fontAlgn="base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sz="1400" b="1" kern="0" dirty="0">
                <a:solidFill>
                  <a:schemeClr val="accent1"/>
                </a:solidFill>
              </a:rPr>
              <a:t>Output Flags</a:t>
            </a:r>
          </a:p>
          <a:p>
            <a:pPr>
              <a:lnSpc>
                <a:spcPct val="200000"/>
              </a:lnSpc>
            </a:pPr>
            <a:r>
              <a:rPr lang="en-US" sz="1400" b="1" kern="0" dirty="0"/>
              <a:t>OK:</a:t>
            </a:r>
            <a:r>
              <a:rPr lang="en-US" sz="1400" kern="0" dirty="0"/>
              <a:t> A true crossing with a valid mask.</a:t>
            </a:r>
            <a:endParaRPr lang="en-US" sz="1400" b="1" kern="0" dirty="0"/>
          </a:p>
          <a:p>
            <a:pPr>
              <a:lnSpc>
                <a:spcPct val="200000"/>
              </a:lnSpc>
            </a:pPr>
            <a:r>
              <a:rPr lang="en-US" sz="1400" b="1" kern="0" dirty="0"/>
              <a:t>NO_MASK:</a:t>
            </a:r>
            <a:r>
              <a:rPr lang="en-US" sz="1400" kern="0" dirty="0"/>
              <a:t> A true crossing, but no associated mask ID for that line.</a:t>
            </a:r>
          </a:p>
          <a:p>
            <a:pPr>
              <a:lnSpc>
                <a:spcPct val="200000"/>
              </a:lnSpc>
            </a:pPr>
            <a:r>
              <a:rPr lang="en-US" sz="1400" b="1" kern="0" dirty="0"/>
              <a:t>MASK_MISPLACED:</a:t>
            </a:r>
            <a:r>
              <a:rPr lang="en-US" sz="1400" kern="0" dirty="0"/>
              <a:t> A mask exists, but it is spatially disjointed from the crossing area. </a:t>
            </a:r>
          </a:p>
          <a:p>
            <a:pPr>
              <a:lnSpc>
                <a:spcPct val="200000"/>
              </a:lnSpc>
            </a:pPr>
            <a:r>
              <a:rPr lang="en-US" sz="1400" b="1" kern="0" dirty="0"/>
              <a:t>N/A : </a:t>
            </a:r>
            <a:r>
              <a:rPr lang="en-US" sz="1400" kern="0" dirty="0"/>
              <a:t>Not a crossing.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492094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EE006C-D7E0-975A-BDCF-A65A513E2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Example run – WU1207 Thun</a:t>
            </a:r>
            <a:br>
              <a:rPr lang="fr-CH" dirty="0"/>
            </a:br>
            <a:r>
              <a:rPr lang="fr-CH" sz="2800" b="0" i="1" dirty="0"/>
              <a:t>Config[2]</a:t>
            </a:r>
            <a:endParaRPr lang="fr-CH" b="0" i="1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451C011-E292-4924-5A84-AB7E80E992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1FFDD-132D-4B5B-AD6B-BCC06A41D268}" type="slidenum">
              <a:rPr lang="de-CH" smtClean="0"/>
              <a:pPr/>
              <a:t>10</a:t>
            </a:fld>
            <a:endParaRPr lang="de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E60C7E-90DF-FAC9-3044-FC6BCD766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Bundesamt für Landestopografie / Office fédéral de topographie</a:t>
            </a:r>
            <a:endParaRPr lang="de-CH" dirty="0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7BD6DCFF-BF85-B7EB-9CC1-2A4F515EB7A4}"/>
              </a:ext>
            </a:extLst>
          </p:cNvPr>
          <p:cNvGrpSpPr/>
          <p:nvPr/>
        </p:nvGrpSpPr>
        <p:grpSpPr>
          <a:xfrm>
            <a:off x="1376907" y="2480816"/>
            <a:ext cx="9583192" cy="1963769"/>
            <a:chOff x="1418502" y="3281902"/>
            <a:chExt cx="8007067" cy="789718"/>
          </a:xfrm>
        </p:grpSpPr>
        <p:sp>
          <p:nvSpPr>
            <p:cNvPr id="6" name="Text 31">
              <a:extLst>
                <a:ext uri="{FF2B5EF4-FFF2-40B4-BE49-F238E27FC236}">
                  <a16:creationId xmlns:a16="http://schemas.microsoft.com/office/drawing/2014/main" id="{36BEA206-E480-D174-9080-B33409B281CB}"/>
                </a:ext>
              </a:extLst>
            </p:cNvPr>
            <p:cNvSpPr txBox="1"/>
            <p:nvPr/>
          </p:nvSpPr>
          <p:spPr>
            <a:xfrm>
              <a:off x="1418502" y="3550586"/>
              <a:ext cx="1275080" cy="2599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88A9"/>
                  </a:solidFill>
                  <a:latin typeface="+mn-lt"/>
                </a:rPr>
                <a:t>53 701</a:t>
              </a:r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0088A9"/>
                  </a:solidFill>
                  <a:latin typeface="+mn-lt"/>
                </a:rPr>
                <a:t>Raw intersection candidates</a:t>
              </a:r>
            </a:p>
          </p:txBody>
        </p:sp>
        <p:sp>
          <p:nvSpPr>
            <p:cNvPr id="7" name="Text 33">
              <a:extLst>
                <a:ext uri="{FF2B5EF4-FFF2-40B4-BE49-F238E27FC236}">
                  <a16:creationId xmlns:a16="http://schemas.microsoft.com/office/drawing/2014/main" id="{48EABA06-73F2-88BE-F094-112E5F75E328}"/>
                </a:ext>
              </a:extLst>
            </p:cNvPr>
            <p:cNvSpPr txBox="1"/>
            <p:nvPr/>
          </p:nvSpPr>
          <p:spPr>
            <a:xfrm>
              <a:off x="3241829" y="3550584"/>
              <a:ext cx="1656081" cy="2599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88A9"/>
                  </a:solidFill>
                  <a:latin typeface="+mn-lt"/>
                </a:rPr>
                <a:t>361</a:t>
              </a:r>
            </a:p>
            <a:p>
              <a:pPr algn="ctr"/>
              <a:r>
                <a:rPr lang="en-US" sz="1400" b="1" dirty="0">
                  <a:solidFill>
                    <a:srgbClr val="0088A9"/>
                  </a:solidFill>
                  <a:latin typeface="+mn-lt"/>
                </a:rPr>
                <a:t>After STUFE filter (−99%)</a:t>
              </a:r>
            </a:p>
          </p:txBody>
        </p:sp>
        <p:sp>
          <p:nvSpPr>
            <p:cNvPr id="8" name="Text 35">
              <a:extLst>
                <a:ext uri="{FF2B5EF4-FFF2-40B4-BE49-F238E27FC236}">
                  <a16:creationId xmlns:a16="http://schemas.microsoft.com/office/drawing/2014/main" id="{6435D04E-E3F3-C88E-0165-2DEB0B182BC2}"/>
                </a:ext>
              </a:extLst>
            </p:cNvPr>
            <p:cNvSpPr txBox="1"/>
            <p:nvPr/>
          </p:nvSpPr>
          <p:spPr>
            <a:xfrm>
              <a:off x="5369228" y="3830802"/>
              <a:ext cx="1656081" cy="1732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88A9"/>
                  </a:solidFill>
                  <a:latin typeface="+mn-lt"/>
                </a:rPr>
                <a:t>324</a:t>
              </a:r>
            </a:p>
            <a:p>
              <a:pPr algn="ctr"/>
              <a:r>
                <a:rPr lang="en-US" sz="1400" b="1" dirty="0">
                  <a:solidFill>
                    <a:srgbClr val="0088A9"/>
                  </a:solidFill>
                  <a:latin typeface="+mn-lt"/>
                </a:rPr>
                <a:t>False crossings→ N/A</a:t>
              </a:r>
            </a:p>
          </p:txBody>
        </p:sp>
        <p:sp>
          <p:nvSpPr>
            <p:cNvPr id="9" name="Text 37">
              <a:extLst>
                <a:ext uri="{FF2B5EF4-FFF2-40B4-BE49-F238E27FC236}">
                  <a16:creationId xmlns:a16="http://schemas.microsoft.com/office/drawing/2014/main" id="{CDEBE554-F65B-588D-1C19-D59A3534BF3A}"/>
                </a:ext>
              </a:extLst>
            </p:cNvPr>
            <p:cNvSpPr txBox="1"/>
            <p:nvPr/>
          </p:nvSpPr>
          <p:spPr>
            <a:xfrm>
              <a:off x="5234122" y="3281902"/>
              <a:ext cx="1791188" cy="2599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88A9"/>
                  </a:solidFill>
                  <a:latin typeface="+mn-lt"/>
                </a:rPr>
                <a:t>37</a:t>
              </a:r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0088A9"/>
                  </a:solidFill>
                  <a:latin typeface="+mn-lt"/>
                </a:rPr>
                <a:t>True crossings confirmed</a:t>
              </a:r>
            </a:p>
          </p:txBody>
        </p:sp>
        <p:sp>
          <p:nvSpPr>
            <p:cNvPr id="10" name="Text 39">
              <a:extLst>
                <a:ext uri="{FF2B5EF4-FFF2-40B4-BE49-F238E27FC236}">
                  <a16:creationId xmlns:a16="http://schemas.microsoft.com/office/drawing/2014/main" id="{4172635A-A795-A78B-932D-D83703AFE86D}"/>
                </a:ext>
              </a:extLst>
            </p:cNvPr>
            <p:cNvSpPr txBox="1"/>
            <p:nvPr/>
          </p:nvSpPr>
          <p:spPr>
            <a:xfrm>
              <a:off x="7852501" y="3325543"/>
              <a:ext cx="1401591" cy="1732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88A9"/>
                  </a:solidFill>
                  <a:latin typeface="+mn-lt"/>
                </a:rPr>
                <a:t>31</a:t>
              </a:r>
            </a:p>
            <a:p>
              <a:pPr algn="ctr"/>
              <a:r>
                <a:rPr lang="en-US" sz="1400" b="1" dirty="0">
                  <a:solidFill>
                    <a:srgbClr val="0088A9"/>
                  </a:solidFill>
                  <a:latin typeface="+mn-lt"/>
                </a:rPr>
                <a:t>OK - mask present</a:t>
              </a:r>
            </a:p>
          </p:txBody>
        </p:sp>
        <p:sp>
          <p:nvSpPr>
            <p:cNvPr id="11" name="Text 41">
              <a:extLst>
                <a:ext uri="{FF2B5EF4-FFF2-40B4-BE49-F238E27FC236}">
                  <a16:creationId xmlns:a16="http://schemas.microsoft.com/office/drawing/2014/main" id="{44438512-2F44-84DB-7B8F-7E86113811A1}"/>
                </a:ext>
              </a:extLst>
            </p:cNvPr>
            <p:cNvSpPr txBox="1"/>
            <p:nvPr/>
          </p:nvSpPr>
          <p:spPr>
            <a:xfrm>
              <a:off x="7717396" y="3797300"/>
              <a:ext cx="170817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088A9"/>
                  </a:solidFill>
                  <a:latin typeface="+mn-lt"/>
                </a:rPr>
                <a:t>6</a:t>
              </a:r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0088A9"/>
                  </a:solidFill>
                  <a:latin typeface="+mn-lt"/>
                </a:rPr>
                <a:t>NO_MASK errors to fix</a:t>
              </a:r>
            </a:p>
          </p:txBody>
        </p:sp>
        <p:cxnSp>
          <p:nvCxnSpPr>
            <p:cNvPr id="12" name="Connecteur : en angle 11">
              <a:extLst>
                <a:ext uri="{FF2B5EF4-FFF2-40B4-BE49-F238E27FC236}">
                  <a16:creationId xmlns:a16="http://schemas.microsoft.com/office/drawing/2014/main" id="{9992B35B-C23C-BB2F-83F1-C2FB0FE6D322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 bwMode="auto">
            <a:xfrm flipV="1">
              <a:off x="2693582" y="3680543"/>
              <a:ext cx="548247" cy="2"/>
            </a:xfrm>
            <a:prstGeom prst="bentConnector3">
              <a:avLst/>
            </a:prstGeom>
            <a:ln w="38100"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Connecteur : en angle 12">
              <a:extLst>
                <a:ext uri="{FF2B5EF4-FFF2-40B4-BE49-F238E27FC236}">
                  <a16:creationId xmlns:a16="http://schemas.microsoft.com/office/drawing/2014/main" id="{27D73099-2C39-8ECF-701C-97F9ABA3D933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 bwMode="auto">
            <a:xfrm flipV="1">
              <a:off x="4897910" y="3411861"/>
              <a:ext cx="336212" cy="268682"/>
            </a:xfrm>
            <a:prstGeom prst="bentConnector3">
              <a:avLst/>
            </a:prstGeom>
            <a:ln w="38100"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Connecteur : en angle 13">
              <a:extLst>
                <a:ext uri="{FF2B5EF4-FFF2-40B4-BE49-F238E27FC236}">
                  <a16:creationId xmlns:a16="http://schemas.microsoft.com/office/drawing/2014/main" id="{5383EB46-9655-ABFC-A6A2-9E8F2F8D87A9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 bwMode="auto">
            <a:xfrm>
              <a:off x="4897910" y="3680543"/>
              <a:ext cx="471318" cy="236898"/>
            </a:xfrm>
            <a:prstGeom prst="bentConnector3">
              <a:avLst>
                <a:gd name="adj1" fmla="val 36492"/>
              </a:avLst>
            </a:prstGeom>
            <a:ln w="38100"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Connecteur : en angle 14">
              <a:extLst>
                <a:ext uri="{FF2B5EF4-FFF2-40B4-BE49-F238E27FC236}">
                  <a16:creationId xmlns:a16="http://schemas.microsoft.com/office/drawing/2014/main" id="{BB2617EB-62A4-5D88-D785-EE9FE78504A2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 bwMode="auto">
            <a:xfrm>
              <a:off x="7025310" y="3411861"/>
              <a:ext cx="827191" cy="321"/>
            </a:xfrm>
            <a:prstGeom prst="bentConnector3">
              <a:avLst>
                <a:gd name="adj1" fmla="val 50000"/>
              </a:avLst>
            </a:prstGeom>
            <a:ln w="38100"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Connecteur : en angle 15">
              <a:extLst>
                <a:ext uri="{FF2B5EF4-FFF2-40B4-BE49-F238E27FC236}">
                  <a16:creationId xmlns:a16="http://schemas.microsoft.com/office/drawing/2014/main" id="{B11C7FB6-AD1F-EC2B-27A9-097316E2C9B5}"/>
                </a:ext>
              </a:extLst>
            </p:cNvPr>
            <p:cNvCxnSpPr>
              <a:cxnSpLocks/>
              <a:stCxn id="9" idx="3"/>
              <a:endCxn id="11" idx="1"/>
            </p:cNvCxnSpPr>
            <p:nvPr/>
          </p:nvCxnSpPr>
          <p:spPr bwMode="auto">
            <a:xfrm>
              <a:off x="7025310" y="3411861"/>
              <a:ext cx="692086" cy="522599"/>
            </a:xfrm>
            <a:prstGeom prst="bentConnector3">
              <a:avLst>
                <a:gd name="adj1" fmla="val 50000"/>
              </a:avLst>
            </a:prstGeom>
            <a:ln w="38100"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2455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258D8F3-1A77-9EF0-EB16-84151B8D903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r>
              <a:rPr lang="en-US" sz="2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process </a:t>
            </a:r>
            <a:r>
              <a:rPr lang="en-US" sz="2400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r>
              <a:rPr lang="en-US" sz="2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from XM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L.</a:t>
            </a:r>
            <a:endParaRPr lang="en-US" sz="2400" noProof="0" dirty="0"/>
          </a:p>
          <a:p>
            <a:pPr>
              <a:lnSpc>
                <a:spcPct val="150000"/>
              </a:lnSpc>
            </a:pPr>
            <a:r>
              <a:rPr lang="en-US" sz="2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Generates </a:t>
            </a:r>
            <a:r>
              <a:rPr lang="en-US" sz="2400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Feature Outline Masks</a:t>
            </a:r>
            <a:r>
              <a:rPr lang="en-US" sz="2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noProof="0" dirty="0"/>
          </a:p>
          <a:p>
            <a:pPr>
              <a:lnSpc>
                <a:spcPct val="150000"/>
              </a:lnSpc>
            </a:pPr>
            <a:r>
              <a:rPr lang="en-US" sz="2400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Intersects</a:t>
            </a:r>
            <a:r>
              <a:rPr lang="en-US" sz="2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input and crossing masks to find candidate crossing locations.</a:t>
            </a:r>
            <a:endParaRPr lang="en-US" sz="2400" noProof="0" dirty="0"/>
          </a:p>
          <a:p>
            <a:pPr>
              <a:lnSpc>
                <a:spcPct val="150000"/>
              </a:lnSpc>
            </a:pPr>
            <a:r>
              <a:rPr lang="en-US" sz="2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Applies </a:t>
            </a:r>
            <a:r>
              <a:rPr lang="en-US" sz="2400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rule </a:t>
            </a:r>
            <a:r>
              <a:rPr lang="en-US" sz="2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configuration.</a:t>
            </a:r>
            <a:endParaRPr lang="en-US" sz="2400" noProof="0" dirty="0"/>
          </a:p>
          <a:p>
            <a:pPr>
              <a:lnSpc>
                <a:spcPct val="150000"/>
              </a:lnSpc>
            </a:pPr>
            <a:r>
              <a:rPr lang="en-US" sz="2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Checks </a:t>
            </a:r>
            <a:r>
              <a:rPr lang="en-US" sz="2400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conditions</a:t>
            </a:r>
            <a:r>
              <a:rPr lang="en-US" sz="2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noProof="0" dirty="0"/>
          </a:p>
          <a:p>
            <a:pPr>
              <a:lnSpc>
                <a:spcPct val="150000"/>
              </a:lnSpc>
            </a:pPr>
            <a:r>
              <a:rPr lang="en-US" sz="2400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r>
              <a:rPr lang="en-US" sz="2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that existing </a:t>
            </a:r>
            <a:r>
              <a:rPr lang="en-US" sz="2400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</a:t>
            </a:r>
            <a:r>
              <a:rPr lang="en-US" sz="2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cover every valid crossing part; </a:t>
            </a:r>
            <a:b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r>
              <a:rPr lang="en-US" sz="2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missing or misplaced masks.</a:t>
            </a:r>
            <a:endParaRPr lang="en-US" sz="2400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199B826-0A3B-FC7D-2969-ECF61D4F4C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21FFDD-132D-4B5B-AD6B-BCC06A41D268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9B084FA-B88D-4B0C-747A-E437EC95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5CF79C-2EBB-2D0F-C62C-ED8ACF553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 dirty="0" err="1"/>
              <a:t>Bundesamt</a:t>
            </a:r>
            <a:r>
              <a:rPr lang="en-US" noProof="0" dirty="0"/>
              <a:t> für </a:t>
            </a:r>
            <a:r>
              <a:rPr lang="en-US" noProof="0" dirty="0" err="1"/>
              <a:t>Landestopografie</a:t>
            </a:r>
            <a:r>
              <a:rPr lang="en-US" noProof="0" dirty="0"/>
              <a:t> / Office </a:t>
            </a:r>
            <a:r>
              <a:rPr lang="en-US" noProof="0" dirty="0" err="1"/>
              <a:t>fédéral</a:t>
            </a:r>
            <a:r>
              <a:rPr lang="en-US" noProof="0" dirty="0"/>
              <a:t> de </a:t>
            </a:r>
            <a:r>
              <a:rPr lang="en-US" noProof="0" dirty="0" err="1"/>
              <a:t>topographie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3431851"/>
      </p:ext>
    </p:extLst>
  </p:cSld>
  <p:clrMapOvr>
    <a:masterClrMapping/>
  </p:clrMapOvr>
</p:sld>
</file>

<file path=ppt/theme/theme1.xml><?xml version="1.0" encoding="utf-8"?>
<a:theme xmlns:a="http://schemas.openxmlformats.org/drawingml/2006/main" name="CDBUND-Master">
  <a:themeElements>
    <a:clrScheme name="CDBUND-Master v3.13">
      <a:dk1>
        <a:sysClr val="windowText" lastClr="000000"/>
      </a:dk1>
      <a:lt1>
        <a:sysClr val="window" lastClr="FFFFFF"/>
      </a:lt1>
      <a:dk2>
        <a:srgbClr val="44546A"/>
      </a:dk2>
      <a:lt2>
        <a:srgbClr val="E6E6E6"/>
      </a:lt2>
      <a:accent1>
        <a:srgbClr val="05A8AF"/>
      </a:accent1>
      <a:accent2>
        <a:srgbClr val="294171"/>
      </a:accent2>
      <a:accent3>
        <a:srgbClr val="F1E21A"/>
      </a:accent3>
      <a:accent4>
        <a:srgbClr val="E1AE3A"/>
      </a:accent4>
      <a:accent5>
        <a:srgbClr val="BB006A"/>
      </a:accent5>
      <a:accent6>
        <a:srgbClr val="939393"/>
      </a:accent6>
      <a:hlink>
        <a:srgbClr val="0563C1"/>
      </a:hlink>
      <a:folHlink>
        <a:srgbClr val="0563C1"/>
      </a:folHlink>
    </a:clrScheme>
    <a:fontScheme name="CDBUND-Master-v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CDBUND-Master-v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3">
        <a:dk1>
          <a:srgbClr val="000000"/>
        </a:dk1>
        <a:lt1>
          <a:srgbClr val="FFFFFF"/>
        </a:lt1>
        <a:dk2>
          <a:srgbClr val="44546A"/>
        </a:dk2>
        <a:lt2>
          <a:srgbClr val="E6E6E6"/>
        </a:lt2>
        <a:accent1>
          <a:srgbClr val="05A8AF"/>
        </a:accent1>
        <a:accent2>
          <a:srgbClr val="294171"/>
        </a:accent2>
        <a:accent3>
          <a:srgbClr val="F1E21A"/>
        </a:accent3>
        <a:accent4>
          <a:srgbClr val="E1AE3A"/>
        </a:accent4>
        <a:accent5>
          <a:srgbClr val="BB006A"/>
        </a:accent5>
        <a:accent6>
          <a:srgbClr val="939393"/>
        </a:accent6>
        <a:hlink>
          <a:srgbClr val="0563C1"/>
        </a:hlink>
        <a:folHlink>
          <a:srgbClr val="0563C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D-Bund Präsentationsvorlage XML" id="{A6E70400-BABE-4B80-9CD5-3A6B67B85B5A}" vid="{48042490-37C0-4713-9770-233B7B4517CD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3218F4F3483AE4A81FD98BC3636A13A" ma:contentTypeVersion="5" ma:contentTypeDescription="Ein neues Dokument erstellen." ma:contentTypeScope="" ma:versionID="e7a1337db503d6890984fe563044ba52">
  <xsd:schema xmlns:xsd="http://www.w3.org/2001/XMLSchema" xmlns:xs="http://www.w3.org/2001/XMLSchema" xmlns:p="http://schemas.microsoft.com/office/2006/metadata/properties" xmlns:ns2="63a4bffd-15a6-4af5-aedd-21c7eced16fc" targetNamespace="http://schemas.microsoft.com/office/2006/metadata/properties" ma:root="true" ma:fieldsID="319e9c5c0e3979f89a6953c35d2da0c6" ns2:_="">
    <xsd:import namespace="63a4bffd-15a6-4af5-aedd-21c7eced16fc"/>
    <xsd:element name="properties">
      <xsd:complexType>
        <xsd:sequence>
          <xsd:element name="documentManagement">
            <xsd:complexType>
              <xsd:all>
                <xsd:element ref="ns2:Speicheror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a4bffd-15a6-4af5-aedd-21c7eced16fc" elementFormDefault="qualified">
    <xsd:import namespace="http://schemas.microsoft.com/office/2006/documentManagement/types"/>
    <xsd:import namespace="http://schemas.microsoft.com/office/infopath/2007/PartnerControls"/>
    <xsd:element name="Speicherort" ma:index="8" nillable="true" ma:displayName="Speicherort" ma:format="Dropdown" ma:internalName="Speicherort">
      <xsd:simpleType>
        <xsd:restriction base="dms:Choice">
          <xsd:enumeration value="ActaNova"/>
          <xsd:enumeration value="M36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peicherort xmlns="63a4bffd-15a6-4af5-aedd-21c7eced16fc" xsi:nil="true"/>
  </documentManagement>
</p:properties>
</file>

<file path=customXml/itemProps1.xml><?xml version="1.0" encoding="utf-8"?>
<ds:datastoreItem xmlns:ds="http://schemas.openxmlformats.org/officeDocument/2006/customXml" ds:itemID="{904DB35D-F828-4804-B7E1-60B92A21CC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0C38F9-F8BE-4581-9D74-E6DAE02B37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a4bffd-15a6-4af5-aedd-21c7eced16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571E02C-EA07-4F4D-97E8-71BBA8B560B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63a4bffd-15a6-4af5-aedd-21c7eced16f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847</Words>
  <Application>Microsoft Office PowerPoint</Application>
  <PresentationFormat>Grand écran</PresentationFormat>
  <Paragraphs>109</Paragraphs>
  <Slides>11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Times</vt:lpstr>
      <vt:lpstr>CDBUND-Master</vt:lpstr>
      <vt:lpstr> Crossing Mask Detection</vt:lpstr>
      <vt:lpstr>Problem Statement</vt:lpstr>
      <vt:lpstr>Pipeline Overview</vt:lpstr>
      <vt:lpstr>Step 1: Configuration &amp; Selection</vt:lpstr>
      <vt:lpstr>Présentation PowerPoint</vt:lpstr>
      <vt:lpstr>Step 3-4: Intersection + Filtering</vt:lpstr>
      <vt:lpstr>Step 5: Detecting True Crossings</vt:lpstr>
      <vt:lpstr>Crossing Criteria</vt:lpstr>
      <vt:lpstr>Step 6: Mask Coverage Check &amp; Output Flags</vt:lpstr>
      <vt:lpstr>Example run – WU1207 Thun Config[2]</vt:lpstr>
      <vt:lpstr>Summary</vt:lpstr>
    </vt:vector>
  </TitlesOfParts>
  <Company>FUB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Document Partner</dc:creator>
  <cp:lastModifiedBy>Gamal Shadya swisstopo</cp:lastModifiedBy>
  <cp:revision>508</cp:revision>
  <cp:lastPrinted>2021-03-17T16:24:53Z</cp:lastPrinted>
  <dcterms:created xsi:type="dcterms:W3CDTF">2024-11-27T12:07:06Z</dcterms:created>
  <dcterms:modified xsi:type="dcterms:W3CDTF">2026-09-17T13:14:02Z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äsentationsdatum">
    <vt:lpwstr>/data:Dokument/data:Erstellungsdatum/data:Langformat</vt:lpwstr>
  </property>
  <property fmtid="{D5CDD505-2E9C-101B-9397-08002B2CF9AE}" pid="3" name="Autor Nachname">
    <vt:lpwstr>/data:Dokument/data:Benutzer/data:Person/data:Nachname</vt:lpwstr>
  </property>
  <property fmtid="{D5CDD505-2E9C-101B-9397-08002B2CF9AE}" pid="4" name="Autor Vorname">
    <vt:lpwstr>/data:Dokument/data:Benutzer/data:Person/data:Vorname</vt:lpwstr>
  </property>
  <property fmtid="{D5CDD505-2E9C-101B-9397-08002B2CF9AE}" pid="5" name="FF Nachname">
    <vt:lpwstr>/data:Dokument/data:Absender/data:Fuss/data:Person/data:Nachname</vt:lpwstr>
  </property>
  <property fmtid="{D5CDD505-2E9C-101B-9397-08002B2CF9AE}" pid="6" name="FF Vorname">
    <vt:lpwstr>/data:Dokument/data:Absender/data:Fuss/data:Person/data:Vorname</vt:lpwstr>
  </property>
  <property fmtid="{D5CDD505-2E9C-101B-9397-08002B2CF9AE}" pid="7" name="Erstellungsdatum">
    <vt:lpwstr>/data:Dokument/data:Erstellungsdatum/data:Langformat</vt:lpwstr>
  </property>
  <property fmtid="{D5CDD505-2E9C-101B-9397-08002B2CF9AE}" pid="8" name="MSIP_Label_245c3252-146d-46f3-8062-82cd8c8d7e7d_Enabled">
    <vt:lpwstr>true</vt:lpwstr>
  </property>
  <property fmtid="{D5CDD505-2E9C-101B-9397-08002B2CF9AE}" pid="9" name="MSIP_Label_245c3252-146d-46f3-8062-82cd8c8d7e7d_SetDate">
    <vt:lpwstr>2025-07-15T12:47:37Z</vt:lpwstr>
  </property>
  <property fmtid="{D5CDD505-2E9C-101B-9397-08002B2CF9AE}" pid="10" name="MSIP_Label_245c3252-146d-46f3-8062-82cd8c8d7e7d_Method">
    <vt:lpwstr>Privileged</vt:lpwstr>
  </property>
  <property fmtid="{D5CDD505-2E9C-101B-9397-08002B2CF9AE}" pid="11" name="MSIP_Label_245c3252-146d-46f3-8062-82cd8c8d7e7d_Name">
    <vt:lpwstr>L1</vt:lpwstr>
  </property>
  <property fmtid="{D5CDD505-2E9C-101B-9397-08002B2CF9AE}" pid="12" name="MSIP_Label_245c3252-146d-46f3-8062-82cd8c8d7e7d_SiteId">
    <vt:lpwstr>6ae27add-8276-4a38-88c1-3a9c1f973767</vt:lpwstr>
  </property>
  <property fmtid="{D5CDD505-2E9C-101B-9397-08002B2CF9AE}" pid="13" name="MSIP_Label_245c3252-146d-46f3-8062-82cd8c8d7e7d_ActionId">
    <vt:lpwstr>afefcb16-d946-44d1-abfa-8f412869e2bd</vt:lpwstr>
  </property>
  <property fmtid="{D5CDD505-2E9C-101B-9397-08002B2CF9AE}" pid="14" name="MSIP_Label_245c3252-146d-46f3-8062-82cd8c8d7e7d_ContentBits">
    <vt:lpwstr>0</vt:lpwstr>
  </property>
  <property fmtid="{D5CDD505-2E9C-101B-9397-08002B2CF9AE}" pid="15" name="MSIP_Label_245c3252-146d-46f3-8062-82cd8c8d7e7d_Tag">
    <vt:lpwstr>10, 0, 1, 1</vt:lpwstr>
  </property>
  <property fmtid="{D5CDD505-2E9C-101B-9397-08002B2CF9AE}" pid="16" name="ContentTypeId">
    <vt:lpwstr>0x01010063218F4F3483AE4A81FD98BC3636A13A</vt:lpwstr>
  </property>
</Properties>
</file>